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65" r:id="rId2"/>
    <p:sldId id="284" r:id="rId3"/>
    <p:sldId id="257" r:id="rId4"/>
    <p:sldId id="262" r:id="rId5"/>
    <p:sldId id="263" r:id="rId6"/>
    <p:sldId id="273" r:id="rId7"/>
    <p:sldId id="268" r:id="rId8"/>
    <p:sldId id="270" r:id="rId9"/>
    <p:sldId id="274" r:id="rId10"/>
    <p:sldId id="266" r:id="rId11"/>
    <p:sldId id="260" r:id="rId12"/>
    <p:sldId id="285" r:id="rId13"/>
    <p:sldId id="278" r:id="rId14"/>
    <p:sldId id="283" r:id="rId15"/>
    <p:sldId id="286" r:id="rId16"/>
    <p:sldId id="287" r:id="rId17"/>
    <p:sldId id="276" r:id="rId18"/>
    <p:sldId id="280" r:id="rId19"/>
    <p:sldId id="289"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865165-6E52-45C9-B1B9-FC3C59830DFF}">
          <p14:sldIdLst>
            <p14:sldId id="265"/>
            <p14:sldId id="284"/>
            <p14:sldId id="257"/>
            <p14:sldId id="262"/>
            <p14:sldId id="263"/>
            <p14:sldId id="273"/>
            <p14:sldId id="268"/>
            <p14:sldId id="270"/>
            <p14:sldId id="274"/>
            <p14:sldId id="266"/>
            <p14:sldId id="260"/>
            <p14:sldId id="285"/>
            <p14:sldId id="278"/>
            <p14:sldId id="283"/>
            <p14:sldId id="286"/>
            <p14:sldId id="287"/>
            <p14:sldId id="276"/>
            <p14:sldId id="280"/>
            <p14:sldId id="28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3" autoAdjust="0"/>
  </p:normalViewPr>
  <p:slideViewPr>
    <p:cSldViewPr>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2:59:54.873"/>
    </inkml:context>
    <inkml:brush xml:id="br0">
      <inkml:brushProperty name="width" value="0.05" units="cm"/>
      <inkml:brushProperty name="height" value="0.05" units="cm"/>
      <inkml:brushProperty name="color" value="#FFFFFF"/>
    </inkml:brush>
  </inkml:definitions>
  <inkml:trace contextRef="#ctx0" brushRef="#br0">28 179 9830,'0'0'16,"0"-1"0,0 0-1,1 1 1,-1-1 0,0 0 0,0 0-1,0 1 1,0-1 0,1 0 0,-1 1 0,0-1-1,1 0 1,-1 1 0,0-1 0,1 1-1,-1-1 1,1 1 0,-1-1 0,1 1-1,-1-1 1,1 1 0,-1-1 0,1 1-1,0-1 1,-1 1 0,1 0 0,-1-1 0,1 1-1,0 0 1,0 0 0,-1 0 0,1-1-1,0 1 1,-1 0 0,1 0 0,0 0-1,-1 0 1,1 0 0,0 0 0,0 0-1,-1 0 1,1 1 0,0-1 0,-1 0 0,1 0-1,0 1 1,-1-1 0,1 0 0,0 1-1,2 0 81,1 0 0,-1 1 0,-1-1-1,1 1 1,0-1 0,0 1 0,0 0-1,-1 0 1,1 0 0,2 3 0,4 11 204,0 0 1,-2 0-1,1 0 0,-2 1 1,5 19-1,16 38 665,-25-66-904,9 15 503,-7-20-349,-1-13-243,-4-158 312,-1 200 353,-9 52-1,0-1-25,10-75-514,0 0 1,0 0-1,-1 0 0,0 0 1,-3 10-1,5-18-73,-1 1 0,1 0 0,-1 0 0,1 0 1,-1 0-1,1 0 0,-1-1 0,1 1 0,-1 0 0,0 0 0,1-1 1,-1 1-1,0 0 0,0-1 0,0 1 0,1-1 0,-1 1 0,0-1 1,0 0-1,0 1 0,-1-1 0,1 0 9,-1 0-1,1 0 1,-1-1 0,1 1 0,-1 0 0,1-1-1,0 1 1,-1-1 0,1 0 0,-1 1-1,1-1 1,0 0 0,0 0 0,0 0-1,-1 0 1,1 0 0,0 0 0,-1-2 0,-9-11-138,0-1 1,1 0 0,1-1 0,1 0-1,-11-26 1,-5-10-227,22 47 288,0 1 0,0-1 0,0 0 0,1 0 0,-1 0 0,1 0 0,0 0 0,1 0 0,-1 0 0,1 0 0,0-1 0,1 1 0,0-6 0,-1 10 48,1-1 1,-1 1-1,1-1 1,-1 1 0,1-1-1,0 1 1,-1-1-1,1 1 1,0 0-1,0-1 1,0 1 0,0 0-1,0 0 1,0 0-1,1 0 1,-1 0-1,3-2 1,-2 2 25,0 1-1,0-1 1,0 0-1,1 1 1,-1 0 0,0-1-1,0 1 1,1 0-1,-1 0 1,0 0 0,1 1-1,-1-1 1,0 1 0,0-1-1,0 1 1,3 0-1,0 2 43,0-1 0,0 1 0,0 0 0,0 0 0,6 6 0,-8-6-16,0 0 0,1-1 0,-1 0-1,0 1 1,1-1 0,0-1 0,-1 1 0,1 0 0,7 1 0,-10-3-59,-1 0 0,1 0 1,0 0-1,-1 0 0,1 0 0,0 0 1,0 0-1,-1 0 0,1-1 0,0 1 1,-1 0-1,1 0 0,-1-1 0,1 1 0,0-1 1,-1 1-1,1 0 0,-1-1 0,1 1 1,-1-1-1,1 1 0,-1-1 0,1 0 1,-1 1-1,0-1 0,1 1 0,-1-1 1,0 0-1,0 1 0,1-1 0,-1 0 1,0 1-1,0-1 0,0 0 0,0 1 1,0-1-1,0 0 0,0 1 0,0-1 1,0 0-1,0 0 0,0 1 0,0-1 1,0 0-1,-1 1 0,1-1 0,0 0 0,-1 0 1,-12-34-16,12 33 52,-1-1 1,1 1-1,0 0 1,-1 1-1,1-1 0,-1 0 1,0 0-1,0 1 0,0-1 1,-3-2-1,5 4-26,0 0 1,-1 0-1,1 0 0,0 0 1,0 0-1,-1 0 0,1 0 0,0 0 1,-1 0-1,1 0 0,0 0 0,-1 0 1,1 0-1,0 0 0,0 0 1,-1 0-1,1 0 0,0 1 0,-1-1 1,1 0-1,0 0 0,0 0 0,-1 0 1,1 1-1,0-1 0,0 0 1,0 0-1,-1 0 0,1 1 0,0-1 1,-6 19 192,6 3-10,0-17-153,0-1 0,0 0 1,0 0-1,0 0 0,-1 1 0,0-1 1,1 0-1,-1 0 0,-1 0 1,1 0-1,-1 0 0,-2 4 1,4-8-36,-1 1 0,0-1 0,1 1 1,-1-1-1,0 0 0,0 1 0,1-1 0,-1 0 1,0 0-1,0 0 0,1 0 0,-1 0 1,0 1-1,0-1 0,1 0 0,-1-1 1,0 1-1,0 0 0,1 0 0,-1 0 0,0 0 1,0-1-1,1 1 0,-1 0 0,0 0 1,1-1-1,-1 1 0,0-1 0,0 0 0,-26-19 244,15 8 88,36 33 56,-23-20-379,0 0 0,0 1 1,0-1-1,0 0 1,0 0-1,0 0 1,1 0-1,-1 0 1,0-1-1,1 1 1,-1 0-1,0 0 0,1-1 1,-1 1-1,1-1 1,-1 0-1,1 1 1,-1-1-1,1 0 1,0 0-1,1 0 1,-2 0-23,0-1 1,0 0-1,0 1 0,0-1 1,0 0-1,0 1 1,-1-1-1,1 0 1,0 0-1,-1 0 1,1 0-1,0 0 0,-1 0 1,1 0-1,-1 0 1,1 0-1,-1 0 1,0 0-1,1 0 1,-1 0-1,0-2 1,1-5-81,0 0 1,-1 0-1,0 0 1,0 0 0,-1 0-1,0 1 1,-2-10-1,-1-1-113,3 13 166,0 0-1,-1 0 1,1 0 0,-1 0-1,0 1 1,-5-9-1,6 12 54,0 0-1,0-1 1,0 1-1,0 0 1,-1 0 0,1 0-1,0 0 1,-1 0-1,1 1 1,-1-1-1,1 0 1,-1 1-1,1-1 1,-1 1-1,0-1 1,1 1 0,-1 0-1,0-1 1,1 1-1,-1 0 1,0 0-1,1 1 1,-1-1-1,0 0 1,-1 1-1,44-15 726,19-1-319,14-3 39,-68 17-417,0 1 0,0-1 0,0 1 0,0 0 0,0 1 1,0-1-1,-1 1 0,1 0 0,10 4 0,-13-4-19,-1 1 0,0-1 0,1 1-1,-1 0 1,0 0 0,0 0 0,0 0 0,0 1-1,0-1 1,0 0 0,-1 1 0,1-1 0,-1 1-1,0 0 1,0-1 0,0 1 0,0 0 0,0 0 0,-1 0-1,1 0 1,-1 0 0,1 4 0,-6-136-1472,5 129 1450,0 0 0,0-1 0,0 1 0,0 0 0,0-1-1,0 1 1,0 0 0,0-1 0,0 1 0,0 0 0,0-1-1,0 1 1,0 0 0,0-1 0,0 1 0,0 0 0,0-1 0,-1 1-1,1 0 1,0-1 0,0 1 0,0 0 0,-1-1 0,1 1-1,0 0 1,0 0 0,0-1 0,-1 1 0,1 0 0,0 0 0,-1 0-1,1-1 1,0 1 0,-1 0 0,1 0 0,0 0 0,-1 0-1,1 0 1,0 0 0,-1-1 0,1 1 0,0 0 0,-1 0 0,1 0-1,0 0 1,-1 0 0,1 0 0,0 1 0,-1-1 0,0 0-1,-14 15 229,3-3-124,-47 35 364,46-35-356,-1 0 0,0-2 0,0 1 0,-25 12 0,-17-9 479,114-16-258,-35 1-317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2:59:55.963"/>
    </inkml:context>
    <inkml:brush xml:id="br0">
      <inkml:brushProperty name="width" value="0.05" units="cm"/>
      <inkml:brushProperty name="height" value="0.05" units="cm"/>
      <inkml:brushProperty name="color" value="#FFFFFF"/>
    </inkml:brush>
  </inkml:definitions>
  <inkml:trace contextRef="#ctx0" brushRef="#br0">1 0 9830,'0'0'0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3:00:01.314"/>
    </inkml:context>
    <inkml:brush xml:id="br0">
      <inkml:brushProperty name="width" value="0.05" units="cm"/>
      <inkml:brushProperty name="height" value="0.05" units="cm"/>
      <inkml:brushProperty name="color" value="#FFFFFF"/>
    </inkml:brush>
  </inkml:definitions>
  <inkml:trace contextRef="#ctx0" brushRef="#br0">1 1 9830,'0'0'0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3:00:31.999"/>
    </inkml:context>
    <inkml:brush xml:id="br0">
      <inkml:brushProperty name="width" value="0.1" units="cm"/>
      <inkml:brushProperty name="height" value="0.1" units="cm"/>
      <inkml:brushProperty name="color" value="#FFFFFF"/>
    </inkml:brush>
  </inkml:definitions>
  <inkml:trace contextRef="#ctx0" brushRef="#br0">1 254 18898,'135'-21'0,"-74"143"0,-39-257 0,113 115 0,-257-43 0,144-72 0,-118 233 0,-26-162 0,185 186 0,-161-26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3:00:41.443"/>
    </inkml:context>
    <inkml:brush xml:id="br0">
      <inkml:brushProperty name="width" value="0.1" units="cm"/>
      <inkml:brushProperty name="height" value="0.1" units="cm"/>
      <inkml:brushProperty name="color" value="#FFFFFF"/>
    </inkml:brush>
  </inkml:definitions>
  <inkml:trace contextRef="#ctx0" brushRef="#br0">411 408 9830,'-3'-71'-11,"2"64"18,0-1 0,0 1 0,-1-1 0,1 1 0,-2 0 0,1-1 1,-5-6-1,5 19 370,0-1 1,0 1 0,1 0 0,-1 0 0,1 0 0,0 0-1,0 6 1,1 8 33,-1-8 922,-1-25-1240,-31-254-3011,37 321 6935,-5 73 0,-1-41-2485,13-125-4959,4-33 190,15-141 481,-22 242 4970,2 22-962,-9-16-378,-1-32-587,0-20-583,1 12 751,1 10 34,6 21 506,6 37 451,-11-48-1061,-2 0-1,1-1 1,-2 1-1,0 0 0,0 0 1,-2-1-1,-3 22 1,2-19-17,3-13-278,0 0 0,0 1 1,-1-1-1,1 0 1,-1 0-1,0 1 0,0-1 1,0 0-1,0 0 0,-1 0 1,-2 3-1,4-5-103,-1-1 1,1 0-1,-1 0 0,0 0 1,1 0-1,-1 0 1,1 0-1,-1 0 0,0 0 1,1 0-1,-1 0 0,1-1 1,-1 1-1,1 0 0,-1 0 1,0-1-1,1 1 0,-1 0 1,1 0-1,-1-1 0,1 1 1,-1-1-1,1 1 0,0 0 1,-1-1-1,1 1 1,-1-1-1,1 1 0,0-1 1,-1 0-1,-13-19-1191,12 18 1129,-36-53-2053,38 54 2136,0 1 1,0 0-1,0 0 1,0 0-1,0 0 1,0 0-1,0 0 0,-1 0 1,1 0-1,0 0 1,0-1-1,0 1 1,0 0-1,0 0 0,-1 0 1,1 0-1,0 0 1,0 0-1,0 0 0,0 0 1,0 0-1,-1 0 1,1 0-1,0 0 1,0 0-1,0 0 0,0 0 1,-1 0-1,1 0 1,0 0-1,0 0 1,0 1-1,0-1 0,0 0 1,0 0-1,-1 0 1,1 0-1,0 0 1,0 0-1,0 0 0,0 0 1,0 1-1,0-1 1,-1 0-1,-4 11 232,-3 17 96,7-24-224,-1 11 51,2-12-114,-1 0 0,1 0 1,-1 0-1,1 0 0,-1 0 0,0 0 1,0 0-1,-3 5 0,-8-33-1673,6-5 819,5 24 689,0 0 0,0 0 0,-1 0 0,0 0 0,0 0 0,0 0 0,-1 1 0,-3-6 0,5 14 283,0 0 0,-1 0 0,1 0-1,0 1 1,1-1 0,-1 0 0,1 1-1,-1-1 1,1 4 0,-12 98 681,11-155-3891,-4-167-1296,5 215 4346,0 1-1,0-1 1,0 1 0,0-1 0,0 1 0,-1-1-1,1 1 1,0-1 0,-1 1 0,1 0-1,-1-1 1,1 1 0,-1 0 0,-1-2 0,2 3 34,-1 0 1,1 0-1,-1 1 0,1-1 1,0 0-1,-1 0 1,1 1-1,-1-1 1,1 0-1,0 1 1,-1-1-1,1 0 1,0 1-1,-1-1 1,1 0-1,0 1 1,-1-1-1,1 1 1,0-1-1,0 0 1,0 1-1,-1-1 1,1 1-1,0-1 1,0 1-1,0 0 1,-15 48 2265,13-44-2239,-3 20 542,3-16-400,0-1 0,0 1 0,0-1 0,-1 1 0,-1-1 0,-5 11 0,8-19-193,1 1 1,0-1-1,-1 0 0,1 0 0,0 1 0,-1-1 0,1 0 0,0 0 0,-1 0 0,1 0 0,-1 1 0,1-1 0,0 0 0,-1 0 0,1 0 0,-1 0 1,1 0-1,-1 0 0,1 0 0,0 0 0,-1 0 0,1 0 0,-1-1 0,1 1 0,0 0 0,-1 0 0,1 0 0,-1 0 0,1-1 0,0 1 0,-1 0 1,1 0-1,0-1 0,-1 1 0,1 0 0,0-1 0,-1 1 0,1 0 0,0-1 0,0 1 0,0 0 0,-1-1 0,1 1 0,0 0 0,0-1 0,0 1 1,0-1-1,0 1 0,0 0 0,-1-2 0,-12-28-861,10 22 707,-9-9 32,11 17 131,1 1 0,-1-1 0,1 1 0,-1 0 0,1-1 0,-1 1-1,1 0 1,0-1 0,-1 1 0,1 0 0,0 0 0,0-1 0,-1 1-1,1 0 1,0 0 0,0 0 0,0-1 0,0 1 0,0 0 0,0 0 0,0 0-1,0 1 1,0-3-24,0 1 0,0 0 0,0 0 0,0-1 0,-1 1 0,1 0 1,0 0-1,0-1 0,0 1 0,-1 0 0,1 0 0,0 0 0,0 0 0,-1-1 0,1 1 0,0 0 0,-1 0 0,1 0 0,0 0 0,0 0 0,-1 0 0,1 0 0,0 0 0,-1 0 0,1 0 0,0 0 0,-1 0 0,1 0 0,0 0 0,0 0 0,-1 0 1,1 0-1,0 0 0,-1 0 0,1 0 0,0 0 0,0 1 0,-1-1 0,1 0 0,0 0 0,0 0 0,-1 0 0,1 1 0,0-1 0,0 0 0,-1 0 0,1 1 0,0-1 0,0 0 0,0 0 0,0 1 0,0-1 0,-1 0 0,1 0 0,0 1 0,0-1 0,0 0 1,0 1-1,0-1 0,0 0 0,0 1 0,0-1 0,0 0 0,0 0 0,0 1 0,0-1 0,0 0 0,0 1 0,-20-28-813,12 15 577,7 12 246,1 0-1,-1 0 0,1 0 1,-1 0-1,1 1 0,-1-1 1,1 0-1,-1 0 0,1 0 0,-1 0 1,1 1-1,-1-1 0,1 0 1,-1 0-1,1 1 0,0-1 1,-1 0-1,1 1 0,0-1 1,-1 0-1,1 1 0,0-1 0,-1 1 1,1-1-1,0 1 0,0-1 1,0 1-1,-1-1 0,1 0 1,0 1-1,0-1 0,0 1 1,0-1-1,0 1 0,0-1 0,0 1 1,0-1-1,0 1 0,0-1 1,0 1-1,0-1 0,0 1 1,1 0-1,-2-2-121,-1-9-175,-1 0 74,-1 0 1,0 1-1,-1-1 1,0 1-1,-9-12 0,-3-7-349,16 79 2092,1-49-1450,0 1 1,0 0-1,0 0 1,0 0-1,0-1 0,1 1 1,-1 0-1,1 0 0,-1-1 1,1 1-1,0-1 1,0 1-1,1 0 0,-1-1 1,0 0-1,1 1 0,-1-1 1,1 0-1,0 0 1,0 0-1,3 3 0,38 61 1858,-43-66-1942,0 0 0,0 0 1,0 0-1,0 1 0,0-1 1,0 0-1,1 0 0,-1 0 1,0 0-1,0 0 0,0 0 1,0 0-1,1 0 0,-1 0 1,0 0-1,0 0 1,0 1-1,0-1 0,1 0 1,-1 0-1,0 0 0,0 0 1,0 0-1,0 0 0,1-1 1,-1 1-1,0 0 0,0 0 1,0 0-1,0 0 0,1 0 1,-1 0-1,0 0 0,0 0 1,0 0-1,0 0 1,0 0-1,1-1 0,-1 1 1,0 0-1,0 0 0,0 0 1,0 0-1,0 0 0,0 0 1,0-1-1,0 1 0,0 0 1,1 0-1,-1 0 0,0 0 1,0-1-1,0 1 0,0 0 1,0 0-1,0-1 1,3-14-479,-3 7 148,0 24 682,0 7-117,1-15-159,-1 0-1,1 0 1,-2 0 0,1-1 0,-3 10-1,-22-70-2055,20 44 1680,1 0 0,-1 1-1,-1-1 1,-11-13-1,5 6-294,-30-60-1450,50 121 3901,1-21-612,19 38 0,-27-58-1128,0-1 0,0 1-1,-1-1 1,1 1-1,-1-1 1,0 1-1,0-1 1,0 1-1,-1 5 1,0-6-42,1 0 1,0-1-1,-1 1 0,1-1 1,0 1-1,0 0 0,1-1 1,-1 1-1,0 0 0,1-1 1,0 1-1,0-1 1,-1 1-1,1-1 0,2 4 1,-2-6-81,-1 0 0,1 0-1,-1 0 1,1 1 0,-1-1 0,1 0 0,-1 0 0,1 0 0,-1 0 0,1 0 0,-1 0 0,1 0 0,-1-1 0,0 1 0,1 0-1,-1 0 1,1 0 0,-1 0 0,1-1 0,-1 1 0,0 0 0,1 0 0,-1-1 0,1 1 0,-1 0 0,0-1 0,1 1 0,-1 0-1,0-1 1,0 1 0,1 0 0,-1-1 0,0 1 0,0-1 0,1 0 0,12-18-1109,-11 16 962,84-151-5509,-64 110 4530,-23 62 2163,2-13-942,-1-16-341,1 0 68,-1 0 1,2 0-1,0 0 0,0 0 1,1 0-1,1 0 0,0 1 1,0-1-1,11-18 0,-15 29 205,0 0 0,0 0 0,0 0 0,0 0 0,0 0-1,0 0 1,0-1 0,0 1 0,0 0 0,0 0 0,0 0-1,0 0 1,1 0 0,-1 0 0,0 0 0,0-1 0,0 1-1,0 0 1,0 0 0,0 0 0,0 0 0,0 0 0,1 0-1,-1 0 1,0 0 0,0 0 0,0 0 0,0 0 0,0 0-1,0 0 1,1 0 0,-1 0 0,0 0 0,0 0-1,0 0 1,0 0 0,0 0 0,1 0 0,-1 0 0,0 0-1,0 0 1,0 0 0,0 0 0,0 0 0,0 0 0,0 0-1,1 0 1,-1 0 0,0 0 0,0 0 0,0 0 0,0 1-1,0-1 1,0 0 0,0 0 0,0 0 0,1 0 0,-1 0-1,0 0 1,0 0 0,0 1 0,0-1 0,3 14 916,-1 18 277,-2-15-703,-1 1 1,0-1-1,-1 0 0,-10 33 0,12-50-495,0 0 0,-1 0-1,1 0 1,-1 0-1,1-1 1,-1 1 0,1 0-1,0 0 1,-1-1 0,1 1-1,-1 0 1,1 0 0,0-1-1,-1 1 1,1 0 0,0-1-1,0 1 1,-1 0 0,1-1-1,0 1 1,0-1 0,-1 1-1,1-1 1,0 1 0,0 0-1,0-1 1,0 1-1,0-1 1,0 1 0,0-1-1,-9-13-53,9 14 51,0 0 0,0 0 0,0 0 0,0 0 0,0-1 0,0 1 0,0 0 0,0 0 0,-1 0 0,1 0 0,0 0 0,0-1 0,0 1 0,0 0 0,0 0 1,0 0-1,-1 0 0,1 0 0,0 0 0,0 0 0,0 0 0,0-1 0,0 1 0,-1 0 0,1 0 0,0 0 0,0 0 0,0 0 0,0 0 0,-1 0 0,1 0 0,0 0 0,0 0 0,0 0 0,0 0 1,-1 0-1,1 0 0,0 0 0,0 0 0,0 1 0,0-1 0,-1 0 0,1 0 0,0 0 0,0 0 0,0 0 0,0 0 0,0 0 0,-1 0 0,1 1 0,0-1 0,0 0 0,-7 16 444,0 0-1,1 1 1,0 0-1,-3 22 1,5-20-244,-1 0 0,-1-1 0,-10 22 0,14-73-1365,1 22 823,1 32 571,0-9-112,0-9-116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2:59:44.026"/>
    </inkml:context>
    <inkml:brush xml:id="br0">
      <inkml:brushProperty name="width" value="0.05" units="cm"/>
      <inkml:brushProperty name="height" value="0.05" units="cm"/>
      <inkml:brushProperty name="color" value="#FFFFFF"/>
    </inkml:brush>
  </inkml:definitions>
  <inkml:trace contextRef="#ctx0" brushRef="#br0">117 138 9830,'2'15'418,"-1"0"0,2 0 0,0 0 0,1 0 0,9 23 0,-7-20-110,0 0 0,-1 0 0,2 22 0,-6-29-153,-1-7-92,0-1 1,0 1 0,1-1 0,-1 0-1,1 1 1,0-1 0,0 1 0,0-1-1,0 0 1,0 0 0,1 0-1,2 4 1,-4-7-58,0 0-1,1 0 0,-1 0 1,0 0-1,0 0 0,1 1 1,-1-1-1,0 0 0,1-1 1,-1 1-1,0 0 0,0 0 1,1 0-1,-1 0 0,0 0 1,1 0-1,-1 0 0,0 0 1,0 0-1,1-1 0,-1 1 1,0 0-1,0 0 0,1 0 1,-1-1-1,0 1 0,0 0 1,0 0-1,1 0 0,-1-1 1,0 1-1,0 0 1,0 0-1,0-1 0,0 1 1,0 0-1,1-1 0,-1 1 1,0 0-1,0 0 0,0-1 1,0 1-1,0 0 0,0-1 1,0 1-1,0 0 0,0-1 1,0 1-1,-1-1 0,5-17-112,-4 8 59,1-1 0,-1 1 0,-1-1 0,0 0 0,-1 1 1,0 0-1,0-1 0,-1 1 0,-1 0 0,-5-13 1,2 2-57,1 0 0,1-1 1,1 0-1,-2-35 1,3 28-47,-10-47 1,13 76 167,0 0-1,0 0 1,0 0 0,0 0-1,-1 0 1,1 0-1,0 0 1,0 1 0,0-1-1,0 0 1,0 0 0,0 0-1,0 0 1,0 0 0,0 0-1,0 0 1,-1 0 0,1 0-1,0 0 1,0 0 0,0 0-1,0 0 1,0 0 0,0 0-1,0 0 1,0 0 0,0 0-1,-1 0 1,1 0 0,0 0-1,0 0 1,0 0 0,0 0-1,0 0 1,0 0 0,0 0-1,0-1 1,0 1-1,0 0 1,-1 0 0,1 0-1,0 0 1,0 0 0,-3 21 347,0 27 52,7 158 1653,0-163-1338,1 1 1,19 71 0,-10-49 76,-18-80-944,-13-60-403,16 58 435,-2-1 0,0 1 0,-1-1 0,-9-23 0,10 53 614,-1 4-299,6-33-606,-3 52 906,2-31-515,-1-26-226,2-28-90,-1 22 3,-4-55-1,2 80 349,1 0 0,-1-1 1,0 1-1,0 0 0,0 0 0,0 0 0,0 0 0,0 0 1,-1 0-1,1 0 0,-1 0 0,1 0 0,-1 1 0,0-1 0,0 0 1,1 1-1,-1 0 0,0-1 0,0 1 0,-3-1 0,4 1-9,-1 0-1,1 1 1,-1-1-1,1 1 1,0-1-1,-1 1 1,1 0-1,-1 0 1,1-1 0,-1 1-1,1 0 1,-1 0-1,1 1 1,-1-1-1,0 0 1,1 0-1,0 1 1,-1-1-1,1 1 1,-1-1-1,1 1 1,-1-1-1,1 1 1,0 0-1,0 0 1,-1 0-1,1 0 1,0 0-1,0 0 1,-2 2 0,0 3 47,-1 1 0,1-1 0,0 1 0,0 0 1,1 0-1,0 0 0,0 0 0,-1 14 1,-5 19 201,2-22-241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2:59:44.376"/>
    </inkml:context>
    <inkml:brush xml:id="br0">
      <inkml:brushProperty name="width" value="0.05" units="cm"/>
      <inkml:brushProperty name="height" value="0.05" units="cm"/>
      <inkml:brushProperty name="color" value="#FFFFFF"/>
    </inkml:brush>
  </inkml:definitions>
  <inkml:trace contextRef="#ctx0" brushRef="#br0">1 1 9830,'0'0'0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2:59:44.523"/>
    </inkml:context>
    <inkml:brush xml:id="br0">
      <inkml:brushProperty name="width" value="0.05" units="cm"/>
      <inkml:brushProperty name="height" value="0.05" units="cm"/>
      <inkml:brushProperty name="color" value="#FFFFFF"/>
    </inkml:brush>
  </inkml:definitions>
  <inkml:trace contextRef="#ctx0" brushRef="#br0">1 1 9830,'0'0'0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2:59:44.678"/>
    </inkml:context>
    <inkml:brush xml:id="br0">
      <inkml:brushProperty name="width" value="0.05" units="cm"/>
      <inkml:brushProperty name="height" value="0.05" units="cm"/>
      <inkml:brushProperty name="color" value="#FFFFFF"/>
    </inkml:brush>
  </inkml:definitions>
  <inkml:trace contextRef="#ctx0" brushRef="#br0">1 1 9830,'0'0'0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2:59:45.504"/>
    </inkml:context>
    <inkml:brush xml:id="br0">
      <inkml:brushProperty name="width" value="0.05" units="cm"/>
      <inkml:brushProperty name="height" value="0.05" units="cm"/>
      <inkml:brushProperty name="color" value="#FFFFFF"/>
    </inkml:brush>
  </inkml:definitions>
  <inkml:trace contextRef="#ctx0" brushRef="#br0">58 66 9830,'-5'0'328,"-1"-5"-1,1-5-337,-4-2 326,0-2-332,-3 0 328,1 3-312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2:59:45.819"/>
    </inkml:context>
    <inkml:brush xml:id="br0">
      <inkml:brushProperty name="width" value="0.05" units="cm"/>
      <inkml:brushProperty name="height" value="0.05" units="cm"/>
      <inkml:brushProperty name="color" value="#FFFFFF"/>
    </inkml:brush>
  </inkml:definitions>
  <inkml:trace contextRef="#ctx0" brushRef="#br0">0 0 9830,'0'0'0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2:59:45.991"/>
    </inkml:context>
    <inkml:brush xml:id="br0">
      <inkml:brushProperty name="width" value="0.05" units="cm"/>
      <inkml:brushProperty name="height" value="0.05" units="cm"/>
      <inkml:brushProperty name="color" value="#FFFFFF"/>
    </inkml:brush>
  </inkml:definitions>
  <inkml:trace contextRef="#ctx0" brushRef="#br0">0 0 9830,'0'0'0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2T03:01:01.688"/>
    </inkml:context>
    <inkml:brush xml:id="br0">
      <inkml:brushProperty name="width" value="0.1" units="cm"/>
      <inkml:brushProperty name="height" value="0.1" units="cm"/>
      <inkml:brushProperty name="color" value="#FFFFFF"/>
    </inkml:brush>
  </inkml:definitions>
  <inkml:trace contextRef="#ctx0" brushRef="#br0">159 93 9830,'10'-13'809,"0"-3"-644,-6 18 149,-1 11 382,2 10 276,-2-21-440,1-15-547,-2-11 9,-2 41 1084,1-30-869,2 0-379,-2-1 1,0 0 0,-1-15 0,-3 32 542,-1 0 0,0 0-1,1 1 1,0 0 0,0 0 0,0 0-1,-4 8 1,-1 8 197,7-16-427,0 0-1,-1 0 1,1-1-1,-1 1 1,1-1-1,-1 1 1,0-1-1,-5 6 1,7-9-139,-1 0 0,1 0 1,-1 0-1,1 0 1,0 0-1,-1 0 0,1-1 1,0 1-1,-1 0 1,1 0-1,0 0 0,-1 0 1,1 0-1,0-1 1,-1 1-1,1 0 0,0 0 1,0-1-1,-1 1 1,1 0-1,0 0 0,0-1 1,-1 1-1,1 0 0,0-1 1,0 1-1,0 0 1,0 0-1,-1-1 0,1 0 1,0 0 6,0 1 1,0-1 0,-1 1-1,1-1 1,0 0-1,-1 1 1,1-1-1,0 1 1,-1-1-1,1 1 1,-1-1 0,1 1-1,-1-1 1,1 1-1,-1-1 1,1 1-1,-1 0 1,1-1 0,-1 1-1,0 0 1,1-1-1,-1 1 1,1 0-1,-1 0 1,0 0-1,1 0 1,-1-1 0,0 1-1,1 0 1,-1 0-1,0 0 1,1 0-1,-1 1 1,0-1 0,1 0-1,-1 0 1,0 0-1,1 0 1,-1 1-1,0-1 1,1 0-1,-1 1 1,1-1 0,-1 0-1,0 2 1,-13 8 329,11-8-194,1-1 0,0 1 0,0 0 0,-1 0 0,1 0 1,0 0-1,0 0 0,1 0 0,-1 1 0,0-1 0,-1 4 0,-7 20 510,2 0 0,-9 40 0,9-31-293,9-118-3082,1 72 2594,1-40-1685,-3 50 1806,0 0 0,0-1 1,-1 1-1,1-1 0,0 1 0,0 0 1,-1-1-1,1 1 0,-1 0 1,1-1-1,-1 1 0,1 0 1,-1 0-1,0-1 0,0 1 1,0 0-1,1 0 0,-1 0 1,0 0-1,0 0 0,-1 0 1,1 0-1,0 0 0,0 1 0,0-1 1,-1 0-1,1 1 0,0-1 1,-2 0-1,2 1 22,1 0 0,-1 1 0,0-1 0,1 0 0,-1 0 0,1 0 0,-1 1 0,0-1 0,1 0 0,-1 1 0,1-1 0,-1 0 0,1 1 0,-1-1 0,1 1 0,-1-1 0,1 1 0,0-1 0,-1 1 0,1-1 0,-1 1 0,1-1 0,0 1 0,0 0 0,-1-1 0,1 1 0,0-1 0,0 1 0,0 0 0,0-1 0,0 1 0,0 0 0,0-1 0,0 1 0,0-1 0,0 1 0,0 1 0,0 32 488,1-27-317,-1 3 42,1-1 1,0 1-1,1 0 1,-1-1-1,2 0 0,0 1 1,4 8-1,0 17 523,-6-31-608,-1 1-1,1 0 0,0-1 1,1 1-1,-1-1 1,4 9-1,-4-12-105,1 1 0,-1-1 0,0 0 0,0 1 0,0-1 0,1 0 0,-1 0 0,1 0 0,-1 0-1,1 0 1,-1 0 0,1-1 0,-1 1 0,1 0 0,0-1 0,-1 1 0,1-1 0,0 0 0,-1 1 0,1-1 0,0 0 0,0 0 0,2 0 0,37 1 751,-26 0-755,0-1 1,-1 0-1,1 0 0,0-2 1,-1 1-1,28-9 1,-41 9-123,0 0 1,1 0-1,-1 0 1,0 0-1,0 0 1,0 0 0,0 0-1,0-1 1,0 1-1,-1-1 1,1 1-1,0 0 1,-1-1-1,1 1 1,-1-1 0,1 1-1,-1-1 1,0 1-1,0-1 1,1 0-1,-1 1 1,0-1-1,0 1 1,-1-1 0,1 0-1,0 1 1,-1-1-1,1 1 1,0-1-1,-2-2 1,-18-51-1858,18 50 1846,2 4 84,0 0-1,0 0 0,-1 0 0,1 0 1,-1 0-1,1 0 0,-1 0 1,1 0-1,-1 0 0,1 0 0,-1 0 1,0 0-1,0 0 0,1 0 0,-1 0 1,0 1-1,0-1 0,0 0 0,0 1 1,0-1-1,0 0 0,0 1 1,0-1-1,0 1 0,0 0 0,0-1 1,0 1-1,-1 0 0,1 0 0,0 0 1,0 0-1,0 0 0,0 0 1,0 0-1,-1 0 0,1 0 0,-2 1 1,-22-2 433,9-11-714,8 7 453,4 23 251,4-4-267,-1-8-67,0-1-1,1 0 0,0 0 0,0 1 0,0-1 0,1 0 0,2 11 0,8-50-1286,-11 14 589,-6 28 759,-8 30 427,13-35-501,0 0 0,0 0 0,0 0-1,0 0 1,0 0 0,-1 0 0,0-1 0,1 1-1,-1 0 1,0-1 0,0 1 0,-1-1 0,1 0-1,0 0 1,-1 0 0,1 0 0,-1 0 0,0-1-1,1 1 1,-1-1 0,0 0 0,0 1 0,-5 0-1,-1 2 91,-6 2 110,-21 12 536,37-18-782,0 0 0,-1-1 0,1 1-1,-1 0 1,1 0 0,-1-1 0,1 1-1,0 0 1,-1 0 0,1 0 0,-1 0 0,1 0-1,0 0 1,-1 0 0,1 0 0,0 0 0,-1 0-1,1 0 1,-1 0 0,1 1 0,0-1 0,-1 0-1,1 0 1,-1 1 0,1-1 0,-1 0 0,1 1-1,-1-1 1,1 0 0,-1 1 0,1-1-1,-1 1 1,1-1 0,0 2 0,16 22 394,-7-11-52,2-2-13,-10-8-331,0 0-1,1-1 1,-1 1-1,1-1 0,0 0 1,0 0-1,0 0 0,0 0 1,0-1-1,0 1 1,1-1-1,-1 1 0,0-1 1,1 0-1,-1-1 1,1 1-1,-1-1 0,1 1 1,-1-1-1,5 0 1,-2-1-16,1 1 0,-1-1 0,0-1 0,0 1 0,1-1 0,-1 0 0,9-5 0,9-2 0,-10 5 0,-22 9 0,-24 11 0,23-14 0,0 1 0,0-1 0,0-1 0,-19 2 0,-13 1 0,19 4 0,18-7 0,1 1 0,0-1 0,0 0 0,-1 0 0,1 0 0,-1 0 0,1 0 0,-1-1 0,-5 0 0,8 0-32,1 0 1,-1-1-1,1 1 1,-1 0-1,1-1 0,-1 1 1,1-1-1,-1 1 1,1-1-1,-1 1 1,1-1-1,0 1 1,-1-1-1,1 0 1,0 1-1,-1-1 1,1 1-1,0-1 1,0 0-1,0 1 1,0-1-1,-1 0 1,1 1-1,0-1 0,0 0 1,0 1-1,0-1 1,0 0-1,1 1 1,-1-1-1,0 1 1,0-2-1,8-26-1355,-6 21 929,2-13-647,0 0 1,0-27-1,-3 33 574,-1 12 434,0 0 0,1 0-1,-1 0 1,1 0 0,-1-1 0,1 1 0,0 0 0,0 1 0,0-1 0,0 0 0,0 0 0,0 0 0,0 0 0,1 1 0,-1-1 0,1 1 0,1-3 0,33-15 699,-5 3 501,-27 12-1068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6F6603-052D-4F99-A029-9660600BE6E0}" type="datetimeFigureOut">
              <a:rPr lang="en-IN" smtClean="0"/>
              <a:t>19-05-2026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243CEA-DF1B-43EA-87C4-DEE23AC3E5A8}" type="slidenum">
              <a:rPr lang="en-IN" smtClean="0"/>
              <a:t>‹#›</a:t>
            </a:fld>
            <a:endParaRPr lang="en-IN"/>
          </a:p>
        </p:txBody>
      </p:sp>
    </p:spTree>
    <p:extLst>
      <p:ext uri="{BB962C8B-B14F-4D97-AF65-F5344CB8AC3E}">
        <p14:creationId xmlns:p14="http://schemas.microsoft.com/office/powerpoint/2010/main" val="4167243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33F746C-2AA6-4D3C-A1C4-03155A0C676F}"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34981571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3F746C-2AA6-4D3C-A1C4-03155A0C676F}"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3531314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3F746C-2AA6-4D3C-A1C4-03155A0C676F}"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674356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33F746C-2AA6-4D3C-A1C4-03155A0C676F}"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2123498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33F746C-2AA6-4D3C-A1C4-03155A0C676F}" type="datetimeFigureOut">
              <a:rPr lang="en-IN" smtClean="0"/>
              <a:t>19-05-2026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23729404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33F746C-2AA6-4D3C-A1C4-03155A0C676F}" type="datetimeFigureOut">
              <a:rPr lang="en-IN" smtClean="0"/>
              <a:t>19-05-2026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4156641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3F746C-2AA6-4D3C-A1C4-03155A0C676F}" type="datetimeFigureOut">
              <a:rPr lang="en-IN" smtClean="0"/>
              <a:t>19-05-2026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256227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3F746C-2AA6-4D3C-A1C4-03155A0C676F}"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1038533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3F746C-2AA6-4D3C-A1C4-03155A0C676F}"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3155220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3F746C-2AA6-4D3C-A1C4-03155A0C676F}"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28958850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33F746C-2AA6-4D3C-A1C4-03155A0C676F}"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185AB4-8742-4631-9586-D2D98AD6AFE2}" type="slidenum">
              <a:rPr lang="en-IN" smtClean="0"/>
              <a:t>‹#›</a:t>
            </a:fld>
            <a:endParaRPr lang="en-IN"/>
          </a:p>
        </p:txBody>
      </p:sp>
    </p:spTree>
    <p:extLst>
      <p:ext uri="{BB962C8B-B14F-4D97-AF65-F5344CB8AC3E}">
        <p14:creationId xmlns:p14="http://schemas.microsoft.com/office/powerpoint/2010/main" val="3277273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3F746C-2AA6-4D3C-A1C4-03155A0C676F}" type="datetimeFigureOut">
              <a:rPr lang="en-IN" smtClean="0"/>
              <a:t>19-05-2026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185AB4-8742-4631-9586-D2D98AD6AFE2}" type="slidenum">
              <a:rPr lang="en-IN" smtClean="0"/>
              <a:t>‹#›</a:t>
            </a:fld>
            <a:endParaRPr lang="en-IN"/>
          </a:p>
        </p:txBody>
      </p:sp>
    </p:spTree>
    <p:extLst>
      <p:ext uri="{BB962C8B-B14F-4D97-AF65-F5344CB8AC3E}">
        <p14:creationId xmlns:p14="http://schemas.microsoft.com/office/powerpoint/2010/main" val="1106342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6.png"/><Relationship Id="rId18" Type="http://schemas.openxmlformats.org/officeDocument/2006/relationships/image" Target="../media/image7.png"/><Relationship Id="rId3" Type="http://schemas.openxmlformats.org/officeDocument/2006/relationships/customXml" Target="../ink/ink1.xml"/><Relationship Id="rId21" Type="http://schemas.openxmlformats.org/officeDocument/2006/relationships/customXml" Target="../ink/ink13.xml"/><Relationship Id="rId7" Type="http://schemas.openxmlformats.org/officeDocument/2006/relationships/customXml" Target="../ink/ink3.xml"/><Relationship Id="rId12" Type="http://schemas.openxmlformats.org/officeDocument/2006/relationships/customXml" Target="../ink/ink6.xml"/><Relationship Id="rId17" Type="http://schemas.openxmlformats.org/officeDocument/2006/relationships/customXml" Target="../ink/ink10.xml"/><Relationship Id="rId2" Type="http://schemas.openxmlformats.org/officeDocument/2006/relationships/image" Target="../media/image1.png"/><Relationship Id="rId16" Type="http://schemas.openxmlformats.org/officeDocument/2006/relationships/customXml" Target="../ink/ink9.xml"/><Relationship Id="rId20" Type="http://schemas.openxmlformats.org/officeDocument/2006/relationships/customXml" Target="../ink/ink12.xml"/><Relationship Id="rId1" Type="http://schemas.openxmlformats.org/officeDocument/2006/relationships/slideLayout" Target="../slideLayouts/slideLayout2.xml"/><Relationship Id="rId6" Type="http://schemas.openxmlformats.org/officeDocument/2006/relationships/image" Target="../media/image3.png"/><Relationship Id="rId11" Type="http://schemas.openxmlformats.org/officeDocument/2006/relationships/image" Target="../media/image5.png"/><Relationship Id="rId5" Type="http://schemas.openxmlformats.org/officeDocument/2006/relationships/customXml" Target="../ink/ink2.xml"/><Relationship Id="rId15" Type="http://schemas.openxmlformats.org/officeDocument/2006/relationships/customXml" Target="../ink/ink8.xml"/><Relationship Id="rId10" Type="http://schemas.openxmlformats.org/officeDocument/2006/relationships/customXml" Target="../ink/ink5.xml"/><Relationship Id="rId19" Type="http://schemas.openxmlformats.org/officeDocument/2006/relationships/customXml" Target="../ink/ink11.xml"/><Relationship Id="rId4" Type="http://schemas.openxmlformats.org/officeDocument/2006/relationships/image" Target="../media/image20.png"/><Relationship Id="rId9" Type="http://schemas.openxmlformats.org/officeDocument/2006/relationships/image" Target="../media/image4.png"/><Relationship Id="rId14" Type="http://schemas.openxmlformats.org/officeDocument/2006/relationships/customXml" Target="../ink/ink7.xml"/><Relationship Id="rId22"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hyperlink" Target="https://github.com/digitalepidemiologylab/plantvillage_deeplearning_paper_dataset"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000" b="1" dirty="0">
                <a:latin typeface="Times New Roman" panose="02020603050405020304" pitchFamily="18" charset="0"/>
                <a:cs typeface="Times New Roman" panose="02020603050405020304" pitchFamily="18" charset="0"/>
              </a:rPr>
              <a:t>Contents</a:t>
            </a:r>
          </a:p>
        </p:txBody>
      </p:sp>
      <p:sp>
        <p:nvSpPr>
          <p:cNvPr id="3" name="Content Placeholder 2"/>
          <p:cNvSpPr>
            <a:spLocks noGrp="1"/>
          </p:cNvSpPr>
          <p:nvPr>
            <p:ph idx="1"/>
          </p:nvPr>
        </p:nvSpPr>
        <p:spPr/>
        <p:txBody>
          <a:bodyPr>
            <a:normAutofit fontScale="77500" lnSpcReduction="20000"/>
          </a:bodyPr>
          <a:lstStyle/>
          <a:p>
            <a:pPr marL="0" indent="0">
              <a:lnSpc>
                <a:spcPct val="160000"/>
              </a:lnSpc>
              <a:buNone/>
            </a:pPr>
            <a:r>
              <a:rPr lang="en-IN" sz="2400" b="1" dirty="0">
                <a:latin typeface="Times New Roman" panose="02020603050405020304" pitchFamily="18" charset="0"/>
                <a:cs typeface="Times New Roman" panose="02020603050405020304" pitchFamily="18" charset="0"/>
              </a:rPr>
              <a:t>a. Title Slide</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b. Synopsis</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c. Introduction</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d. Overall Explanation with Design Diagram</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e. Dataset Description</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f. Implementation Tools/Software</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g. Output</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h. Conclusion</a:t>
            </a:r>
            <a:br>
              <a:rPr lang="en-IN" sz="2400" b="1" dirty="0">
                <a:latin typeface="Times New Roman" panose="02020603050405020304" pitchFamily="18" charset="0"/>
                <a:cs typeface="Times New Roman" panose="02020603050405020304" pitchFamily="18" charset="0"/>
              </a:rPr>
            </a:br>
            <a:r>
              <a:rPr lang="en-IN" sz="2400" b="1" dirty="0" err="1">
                <a:latin typeface="Times New Roman" panose="02020603050405020304" pitchFamily="18" charset="0"/>
                <a:cs typeface="Times New Roman" panose="02020603050405020304" pitchFamily="18" charset="0"/>
              </a:rPr>
              <a:t>i</a:t>
            </a:r>
            <a:r>
              <a:rPr lang="en-IN" sz="2400" b="1" dirty="0">
                <a:latin typeface="Times New Roman" panose="02020603050405020304" pitchFamily="18" charset="0"/>
                <a:cs typeface="Times New Roman" panose="02020603050405020304" pitchFamily="18" charset="0"/>
              </a:rPr>
              <a:t>. Future Enhancement</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j. Outcome</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k. References</a:t>
            </a:r>
          </a:p>
        </p:txBody>
      </p:sp>
    </p:spTree>
    <p:extLst>
      <p:ext uri="{BB962C8B-B14F-4D97-AF65-F5344CB8AC3E}">
        <p14:creationId xmlns:p14="http://schemas.microsoft.com/office/powerpoint/2010/main" val="213529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A0D8F3C-BB66-4BB3-811B-EE22C1985B82}"/>
              </a:ext>
            </a:extLst>
          </p:cNvPr>
          <p:cNvSpPr>
            <a:spLocks noGrp="1"/>
          </p:cNvSpPr>
          <p:nvPr>
            <p:ph type="title"/>
          </p:nvPr>
        </p:nvSpPr>
        <p:spPr>
          <a:xfrm>
            <a:off x="395536" y="1916832"/>
            <a:ext cx="8229600" cy="4248472"/>
          </a:xfrm>
        </p:spPr>
        <p:txBody>
          <a:bodyPr>
            <a:noAutofit/>
          </a:bodyPr>
          <a:lstStyle/>
          <a:p>
            <a:pPr algn="just"/>
            <a:r>
              <a:rPr lang="en-US" sz="1800" dirty="0">
                <a:latin typeface="Times New Roman" panose="02020603050405020304" pitchFamily="18" charset="0"/>
                <a:cs typeface="Times New Roman" panose="02020603050405020304" pitchFamily="18" charset="0"/>
              </a:rPr>
              <a:t>Plant diseases are one of the major factors affecting agricultural productivity and crop quality. Early detection of these diseases is essential to prevent large-scale damage and ensure better yield. However, traditional methods rely on manual inspection by experts, which is time-consuming, inconsistent, and not suitable for large-scale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To address this problem, this project proposes an automated plant leaf disease detection system using a hybrid deep learning approach. The model combines EfficientNetV2-S, which is effective in extracting detailed local features such as textures and disease patterns, with MobileViTv2, which captures global contextual relationships using attention mechanisms. A gated feature fusion technique is used to integrate these features, improving the model’s ability to accurately classify different plant diseases.</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system is trained and evaluated on Apple and Grape leaf datasets with proper preprocessing and data augmentation techniques to improve robustness and generalization. The proposed model achieves high accuracy of up to 96.67%, along with strong performance across precision and recall metrics. Additionally, Grad-CAM visualization is used to interpret the model’s predictions by highlighting disease-affected regions.</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Overall, the proposed system provides an efficient, reliable, and scalable solution for automated plant disease detection, making it suitable for real-world agricultural applications.</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2856D938-3EC6-7503-9BA7-7661A4360972}"/>
              </a:ext>
            </a:extLst>
          </p:cNvPr>
          <p:cNvSpPr>
            <a:spLocks noGrp="1"/>
          </p:cNvSpPr>
          <p:nvPr>
            <p:ph type="body" idx="4294967295"/>
          </p:nvPr>
        </p:nvSpPr>
        <p:spPr>
          <a:xfrm>
            <a:off x="624136" y="188640"/>
            <a:ext cx="7772400" cy="360040"/>
          </a:xfrm>
        </p:spPr>
        <p:txBody>
          <a:bodyPr>
            <a:normAutofit fontScale="70000" lnSpcReduction="20000"/>
          </a:bodyPr>
          <a:lstStyle/>
          <a:p>
            <a:pPr marL="0" indent="0">
              <a:buNone/>
            </a:pPr>
            <a:r>
              <a:rPr lang="en-US" b="1" dirty="0">
                <a:solidFill>
                  <a:schemeClr val="tx1"/>
                </a:solidFill>
                <a:latin typeface="Times New Roman" panose="02020603050405020304" pitchFamily="18" charset="0"/>
                <a:cs typeface="Times New Roman" panose="02020603050405020304" pitchFamily="18" charset="0"/>
              </a:rPr>
              <a:t>                                                Synopsis</a:t>
            </a:r>
            <a:endParaRPr lang="en-IN"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7831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normAutofit/>
          </a:bodyPr>
          <a:lstStyle/>
          <a:p>
            <a:r>
              <a:rPr lang="en-US" sz="2000" b="1" dirty="0">
                <a:latin typeface="Times New Roman" panose="02020603050405020304" pitchFamily="18" charset="0"/>
                <a:cs typeface="Times New Roman" panose="02020603050405020304" pitchFamily="18" charset="0"/>
              </a:rPr>
              <a:t>Introduction</a:t>
            </a:r>
            <a:endParaRPr lang="en-IN" sz="2000" b="1"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1B15C4B4-9B59-58DA-13B6-6A9D3BD560E4}"/>
              </a:ext>
            </a:extLst>
          </p:cNvPr>
          <p:cNvSpPr>
            <a:spLocks noGrp="1" noChangeArrowheads="1"/>
          </p:cNvSpPr>
          <p:nvPr>
            <p:ph idx="1"/>
          </p:nvPr>
        </p:nvSpPr>
        <p:spPr bwMode="auto">
          <a:xfrm>
            <a:off x="143446" y="1113711"/>
            <a:ext cx="8857108"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Agriculture plays a crucial role in sustaining global food production and supporting rural livelihoods.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significant portion of the population depends on agriculture for income and survival.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Plant diseases are a major factor affecting crop growth, yield, and overall food quality.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Leaf-based diseases often appear at early stages and act as key indicators of plant health conditions.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diseases are not detected at the right time, they can spread rapidly and cause severe crop damage.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Delayed or inaccurate diagnosis leads to reduced productivity and economic losses for farmers.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Therefore, early, accurate, and reliable disease detection is essential to improve crop yield and ensure food security. </a:t>
            </a:r>
          </a:p>
        </p:txBody>
      </p:sp>
    </p:spTree>
    <p:extLst>
      <p:ext uri="{BB962C8B-B14F-4D97-AF65-F5344CB8AC3E}">
        <p14:creationId xmlns:p14="http://schemas.microsoft.com/office/powerpoint/2010/main" val="3783803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576064"/>
          </a:xfrm>
        </p:spPr>
        <p:txBody>
          <a:bodyPr>
            <a:normAutofit/>
          </a:bodyPr>
          <a:lstStyle/>
          <a:p>
            <a:r>
              <a:rPr lang="en-US" sz="2000" b="1" dirty="0">
                <a:latin typeface="Times New Roman" panose="02020603050405020304" pitchFamily="18" charset="0"/>
                <a:cs typeface="Times New Roman" panose="02020603050405020304" pitchFamily="18" charset="0"/>
              </a:rPr>
              <a:t>System Design</a:t>
            </a:r>
            <a:endParaRPr lang="en-IN" sz="20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0A0FB8D-C014-70AA-87D8-BFDB9FF148D6}"/>
              </a:ext>
            </a:extLst>
          </p:cNvPr>
          <p:cNvSpPr>
            <a:spLocks noGrp="1" noChangeArrowheads="1"/>
          </p:cNvSpPr>
          <p:nvPr>
            <p:ph idx="1"/>
          </p:nvPr>
        </p:nvSpPr>
        <p:spPr bwMode="auto">
          <a:xfrm>
            <a:off x="107727" y="564307"/>
            <a:ext cx="8928546"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uses a hybrid deep learning model combining EfficientNetV2-S and MobileViTv2 for plant disease detection.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takes plant leaf images as input under different environmental conditions such as lighting and background variations.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preprocessing and data augmentation are applied to improve robustness and model generalization.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EfficientNetV2-S is used to extract detailed local features such as textures, spots, and color variations.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MobileViTv2 captures global contextual information using attention mechanisms.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gated feature fusion mechanism combines features from both models to enhance classification performance.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performs multi-class classification to identify different plant diseases.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final output includes predicted disease class along with confidence score for better decision-making. </a:t>
            </a:r>
          </a:p>
        </p:txBody>
      </p:sp>
    </p:spTree>
    <p:extLst>
      <p:ext uri="{BB962C8B-B14F-4D97-AF65-F5344CB8AC3E}">
        <p14:creationId xmlns:p14="http://schemas.microsoft.com/office/powerpoint/2010/main" val="340263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7758"/>
            <a:ext cx="8229600" cy="346050"/>
          </a:xfrm>
        </p:spPr>
        <p:txBody>
          <a:bodyPr>
            <a:noAutofit/>
          </a:bodyPr>
          <a:lstStyle/>
          <a:p>
            <a:r>
              <a:rPr lang="en-IN" sz="2000" b="1" dirty="0">
                <a:latin typeface="Times New Roman" panose="02020603050405020304" pitchFamily="18" charset="0"/>
                <a:cs typeface="Times New Roman" panose="02020603050405020304" pitchFamily="18" charset="0"/>
              </a:rPr>
              <a:t>Design Diagram</a:t>
            </a:r>
          </a:p>
        </p:txBody>
      </p:sp>
      <p:pic>
        <p:nvPicPr>
          <p:cNvPr id="15" name="Content Placeholder 14">
            <a:extLst>
              <a:ext uri="{FF2B5EF4-FFF2-40B4-BE49-F238E27FC236}">
                <a16:creationId xmlns:a16="http://schemas.microsoft.com/office/drawing/2014/main" id="{9471AC65-8542-006B-516E-48405A0883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2400" y="473808"/>
            <a:ext cx="5615544" cy="5652355"/>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0DCA192A-6E33-98B3-BEBF-3051BB18CA12}"/>
                  </a:ext>
                </a:extLst>
              </p14:cNvPr>
              <p14:cNvContentPartPr/>
              <p14:nvPr/>
            </p14:nvContentPartPr>
            <p14:xfrm>
              <a:off x="8807422" y="4190106"/>
              <a:ext cx="114120" cy="181800"/>
            </p14:xfrm>
          </p:contentPart>
        </mc:Choice>
        <mc:Fallback xmlns="">
          <p:pic>
            <p:nvPicPr>
              <p:cNvPr id="10" name="Ink 9">
                <a:extLst>
                  <a:ext uri="{FF2B5EF4-FFF2-40B4-BE49-F238E27FC236}">
                    <a16:creationId xmlns:a16="http://schemas.microsoft.com/office/drawing/2014/main" id="{0DCA192A-6E33-98B3-BEBF-3051BB18CA12}"/>
                  </a:ext>
                </a:extLst>
              </p:cNvPr>
              <p:cNvPicPr/>
              <p:nvPr/>
            </p:nvPicPr>
            <p:blipFill>
              <a:blip r:embed="rId4"/>
              <a:stretch>
                <a:fillRect/>
              </a:stretch>
            </p:blipFill>
            <p:spPr>
              <a:xfrm>
                <a:off x="8798422" y="4181106"/>
                <a:ext cx="13176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A384133D-F95F-812D-E68E-1FEEEE49D44A}"/>
                  </a:ext>
                </a:extLst>
              </p14:cNvPr>
              <p14:cNvContentPartPr/>
              <p14:nvPr/>
            </p14:nvContentPartPr>
            <p14:xfrm>
              <a:off x="10897942" y="3965466"/>
              <a:ext cx="360" cy="360"/>
            </p14:xfrm>
          </p:contentPart>
        </mc:Choice>
        <mc:Fallback xmlns="">
          <p:pic>
            <p:nvPicPr>
              <p:cNvPr id="12" name="Ink 11">
                <a:extLst>
                  <a:ext uri="{FF2B5EF4-FFF2-40B4-BE49-F238E27FC236}">
                    <a16:creationId xmlns:a16="http://schemas.microsoft.com/office/drawing/2014/main" id="{A384133D-F95F-812D-E68E-1FEEEE49D44A}"/>
                  </a:ext>
                </a:extLst>
              </p:cNvPr>
              <p:cNvPicPr/>
              <p:nvPr/>
            </p:nvPicPr>
            <p:blipFill>
              <a:blip r:embed="rId6"/>
              <a:stretch>
                <a:fillRect/>
              </a:stretch>
            </p:blipFill>
            <p:spPr>
              <a:xfrm>
                <a:off x="10889302" y="395646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65ECFCDC-1C26-2A81-8EA1-B4D1F9C38B31}"/>
                  </a:ext>
                </a:extLst>
              </p14:cNvPr>
              <p14:cNvContentPartPr/>
              <p14:nvPr/>
            </p14:nvContentPartPr>
            <p14:xfrm>
              <a:off x="10226182" y="3116226"/>
              <a:ext cx="360" cy="360"/>
            </p14:xfrm>
          </p:contentPart>
        </mc:Choice>
        <mc:Fallback xmlns="">
          <p:pic>
            <p:nvPicPr>
              <p:cNvPr id="14" name="Ink 13">
                <a:extLst>
                  <a:ext uri="{FF2B5EF4-FFF2-40B4-BE49-F238E27FC236}">
                    <a16:creationId xmlns:a16="http://schemas.microsoft.com/office/drawing/2014/main" id="{65ECFCDC-1C26-2A81-8EA1-B4D1F9C38B31}"/>
                  </a:ext>
                </a:extLst>
              </p:cNvPr>
              <p:cNvPicPr/>
              <p:nvPr/>
            </p:nvPicPr>
            <p:blipFill>
              <a:blip r:embed="rId6"/>
              <a:stretch>
                <a:fillRect/>
              </a:stretch>
            </p:blipFill>
            <p:spPr>
              <a:xfrm>
                <a:off x="10217542" y="310758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CCD8FFB8-6A10-381D-8F6F-E7F771B4489A}"/>
                  </a:ext>
                </a:extLst>
              </p14:cNvPr>
              <p14:cNvContentPartPr/>
              <p14:nvPr/>
            </p14:nvContentPartPr>
            <p14:xfrm rot="3885001">
              <a:off x="6543688" y="926193"/>
              <a:ext cx="128474" cy="128474"/>
            </p14:xfrm>
          </p:contentPart>
        </mc:Choice>
        <mc:Fallback xmlns="">
          <p:pic>
            <p:nvPicPr>
              <p:cNvPr id="17" name="Ink 16">
                <a:extLst>
                  <a:ext uri="{FF2B5EF4-FFF2-40B4-BE49-F238E27FC236}">
                    <a16:creationId xmlns:a16="http://schemas.microsoft.com/office/drawing/2014/main" id="{CCD8FFB8-6A10-381D-8F6F-E7F771B4489A}"/>
                  </a:ext>
                </a:extLst>
              </p:cNvPr>
              <p:cNvPicPr/>
              <p:nvPr/>
            </p:nvPicPr>
            <p:blipFill>
              <a:blip r:embed="rId9"/>
              <a:stretch>
                <a:fillRect/>
              </a:stretch>
            </p:blipFill>
            <p:spPr>
              <a:xfrm rot="3885001">
                <a:off x="6525542" y="908410"/>
                <a:ext cx="164403" cy="164403"/>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6FBE15F2-A0A8-0E35-A49E-EAD9C05C42D6}"/>
                  </a:ext>
                </a:extLst>
              </p14:cNvPr>
              <p14:cNvContentPartPr/>
              <p14:nvPr/>
            </p14:nvContentPartPr>
            <p14:xfrm>
              <a:off x="6524945" y="966130"/>
              <a:ext cx="162000" cy="146880"/>
            </p14:xfrm>
          </p:contentPart>
        </mc:Choice>
        <mc:Fallback xmlns="">
          <p:pic>
            <p:nvPicPr>
              <p:cNvPr id="18" name="Ink 17">
                <a:extLst>
                  <a:ext uri="{FF2B5EF4-FFF2-40B4-BE49-F238E27FC236}">
                    <a16:creationId xmlns:a16="http://schemas.microsoft.com/office/drawing/2014/main" id="{6FBE15F2-A0A8-0E35-A49E-EAD9C05C42D6}"/>
                  </a:ext>
                </a:extLst>
              </p:cNvPr>
              <p:cNvPicPr/>
              <p:nvPr/>
            </p:nvPicPr>
            <p:blipFill>
              <a:blip r:embed="rId11"/>
              <a:stretch>
                <a:fillRect/>
              </a:stretch>
            </p:blipFill>
            <p:spPr>
              <a:xfrm>
                <a:off x="6507305" y="948490"/>
                <a:ext cx="197640" cy="182520"/>
              </a:xfrm>
              <a:prstGeom prst="rect">
                <a:avLst/>
              </a:prstGeom>
            </p:spPr>
          </p:pic>
        </mc:Fallback>
      </mc:AlternateContent>
      <p:grpSp>
        <p:nvGrpSpPr>
          <p:cNvPr id="20" name="Group 19">
            <a:extLst>
              <a:ext uri="{FF2B5EF4-FFF2-40B4-BE49-F238E27FC236}">
                <a16:creationId xmlns:a16="http://schemas.microsoft.com/office/drawing/2014/main" id="{048F1176-E6CE-7D73-CFC4-2CE1EDDD487A}"/>
              </a:ext>
            </a:extLst>
          </p:cNvPr>
          <p:cNvGrpSpPr/>
          <p:nvPr/>
        </p:nvGrpSpPr>
        <p:grpSpPr>
          <a:xfrm>
            <a:off x="8807371" y="4158426"/>
            <a:ext cx="112371" cy="195840"/>
            <a:chOff x="8807371" y="4158426"/>
            <a:chExt cx="112371" cy="195840"/>
          </a:xfrm>
        </p:grpSpPr>
        <mc:AlternateContent xmlns:mc="http://schemas.openxmlformats.org/markup-compatibility/2006" xmlns:p14="http://schemas.microsoft.com/office/powerpoint/2010/main">
          <mc:Choice Requires="p14">
            <p:contentPart p14:bwMode="auto" r:id="rId12">
              <p14:nvContentPartPr>
                <p14:cNvPr id="3" name="Ink 2">
                  <a:extLst>
                    <a:ext uri="{FF2B5EF4-FFF2-40B4-BE49-F238E27FC236}">
                      <a16:creationId xmlns:a16="http://schemas.microsoft.com/office/drawing/2014/main" id="{5213E502-BEC7-8545-BCF6-F2A465B78203}"/>
                    </a:ext>
                  </a:extLst>
                </p14:cNvPr>
                <p14:cNvContentPartPr/>
                <p14:nvPr/>
              </p14:nvContentPartPr>
              <p14:xfrm>
                <a:off x="8849902" y="4158426"/>
                <a:ext cx="69840" cy="195840"/>
              </p14:xfrm>
            </p:contentPart>
          </mc:Choice>
          <mc:Fallback xmlns="">
            <p:pic>
              <p:nvPicPr>
                <p:cNvPr id="3" name="Ink 2">
                  <a:extLst>
                    <a:ext uri="{FF2B5EF4-FFF2-40B4-BE49-F238E27FC236}">
                      <a16:creationId xmlns:a16="http://schemas.microsoft.com/office/drawing/2014/main" id="{5213E502-BEC7-8545-BCF6-F2A465B78203}"/>
                    </a:ext>
                  </a:extLst>
                </p:cNvPr>
                <p:cNvPicPr/>
                <p:nvPr/>
              </p:nvPicPr>
              <p:blipFill>
                <a:blip r:embed="rId13"/>
                <a:stretch>
                  <a:fillRect/>
                </a:stretch>
              </p:blipFill>
              <p:spPr>
                <a:xfrm>
                  <a:off x="8841262" y="4149786"/>
                  <a:ext cx="8748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 name="Ink 3">
                  <a:extLst>
                    <a:ext uri="{FF2B5EF4-FFF2-40B4-BE49-F238E27FC236}">
                      <a16:creationId xmlns:a16="http://schemas.microsoft.com/office/drawing/2014/main" id="{AE366A39-78AA-1619-0CEF-7512A3E6C451}"/>
                    </a:ext>
                  </a:extLst>
                </p14:cNvPr>
                <p14:cNvContentPartPr/>
                <p14:nvPr/>
              </p14:nvContentPartPr>
              <p14:xfrm>
                <a:off x="8845222" y="4282626"/>
                <a:ext cx="360" cy="360"/>
              </p14:xfrm>
            </p:contentPart>
          </mc:Choice>
          <mc:Fallback xmlns="">
            <p:pic>
              <p:nvPicPr>
                <p:cNvPr id="4" name="Ink 3">
                  <a:extLst>
                    <a:ext uri="{FF2B5EF4-FFF2-40B4-BE49-F238E27FC236}">
                      <a16:creationId xmlns:a16="http://schemas.microsoft.com/office/drawing/2014/main" id="{AE366A39-78AA-1619-0CEF-7512A3E6C451}"/>
                    </a:ext>
                  </a:extLst>
                </p:cNvPr>
                <p:cNvPicPr/>
                <p:nvPr/>
              </p:nvPicPr>
              <p:blipFill>
                <a:blip r:embed="rId6"/>
                <a:stretch>
                  <a:fillRect/>
                </a:stretch>
              </p:blipFill>
              <p:spPr>
                <a:xfrm>
                  <a:off x="8836582" y="427398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 name="Ink 4">
                  <a:extLst>
                    <a:ext uri="{FF2B5EF4-FFF2-40B4-BE49-F238E27FC236}">
                      <a16:creationId xmlns:a16="http://schemas.microsoft.com/office/drawing/2014/main" id="{5FA8D0E9-DCE8-C34C-EEB2-821DCEB81756}"/>
                    </a:ext>
                  </a:extLst>
                </p14:cNvPr>
                <p14:cNvContentPartPr/>
                <p14:nvPr/>
              </p14:nvContentPartPr>
              <p14:xfrm>
                <a:off x="8845222" y="4282626"/>
                <a:ext cx="360" cy="360"/>
              </p14:xfrm>
            </p:contentPart>
          </mc:Choice>
          <mc:Fallback xmlns="">
            <p:pic>
              <p:nvPicPr>
                <p:cNvPr id="5" name="Ink 4">
                  <a:extLst>
                    <a:ext uri="{FF2B5EF4-FFF2-40B4-BE49-F238E27FC236}">
                      <a16:creationId xmlns:a16="http://schemas.microsoft.com/office/drawing/2014/main" id="{5FA8D0E9-DCE8-C34C-EEB2-821DCEB81756}"/>
                    </a:ext>
                  </a:extLst>
                </p:cNvPr>
                <p:cNvPicPr/>
                <p:nvPr/>
              </p:nvPicPr>
              <p:blipFill>
                <a:blip r:embed="rId6"/>
                <a:stretch>
                  <a:fillRect/>
                </a:stretch>
              </p:blipFill>
              <p:spPr>
                <a:xfrm>
                  <a:off x="8836582" y="427398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Ink 5">
                  <a:extLst>
                    <a:ext uri="{FF2B5EF4-FFF2-40B4-BE49-F238E27FC236}">
                      <a16:creationId xmlns:a16="http://schemas.microsoft.com/office/drawing/2014/main" id="{2B2535B7-EB92-1666-4D21-3231A5E525A7}"/>
                    </a:ext>
                  </a:extLst>
                </p14:cNvPr>
                <p14:cNvContentPartPr/>
                <p14:nvPr/>
              </p14:nvContentPartPr>
              <p14:xfrm>
                <a:off x="8845222" y="4282626"/>
                <a:ext cx="360" cy="360"/>
              </p14:xfrm>
            </p:contentPart>
          </mc:Choice>
          <mc:Fallback xmlns="">
            <p:pic>
              <p:nvPicPr>
                <p:cNvPr id="6" name="Ink 5">
                  <a:extLst>
                    <a:ext uri="{FF2B5EF4-FFF2-40B4-BE49-F238E27FC236}">
                      <a16:creationId xmlns:a16="http://schemas.microsoft.com/office/drawing/2014/main" id="{2B2535B7-EB92-1666-4D21-3231A5E525A7}"/>
                    </a:ext>
                  </a:extLst>
                </p:cNvPr>
                <p:cNvPicPr/>
                <p:nvPr/>
              </p:nvPicPr>
              <p:blipFill>
                <a:blip r:embed="rId6"/>
                <a:stretch>
                  <a:fillRect/>
                </a:stretch>
              </p:blipFill>
              <p:spPr>
                <a:xfrm>
                  <a:off x="8836582" y="427398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 name="Ink 6">
                  <a:extLst>
                    <a:ext uri="{FF2B5EF4-FFF2-40B4-BE49-F238E27FC236}">
                      <a16:creationId xmlns:a16="http://schemas.microsoft.com/office/drawing/2014/main" id="{EEC8B76E-7BC5-E290-5CFF-2E6C38A720C6}"/>
                    </a:ext>
                  </a:extLst>
                </p14:cNvPr>
                <p14:cNvContentPartPr/>
                <p14:nvPr/>
              </p14:nvContentPartPr>
              <p14:xfrm>
                <a:off x="8824702" y="4259226"/>
                <a:ext cx="20880" cy="24120"/>
              </p14:xfrm>
            </p:contentPart>
          </mc:Choice>
          <mc:Fallback xmlns="">
            <p:pic>
              <p:nvPicPr>
                <p:cNvPr id="7" name="Ink 6">
                  <a:extLst>
                    <a:ext uri="{FF2B5EF4-FFF2-40B4-BE49-F238E27FC236}">
                      <a16:creationId xmlns:a16="http://schemas.microsoft.com/office/drawing/2014/main" id="{EEC8B76E-7BC5-E290-5CFF-2E6C38A720C6}"/>
                    </a:ext>
                  </a:extLst>
                </p:cNvPr>
                <p:cNvPicPr/>
                <p:nvPr/>
              </p:nvPicPr>
              <p:blipFill>
                <a:blip r:embed="rId18"/>
                <a:stretch>
                  <a:fillRect/>
                </a:stretch>
              </p:blipFill>
              <p:spPr>
                <a:xfrm>
                  <a:off x="8816062" y="4250226"/>
                  <a:ext cx="385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8" name="Ink 7">
                  <a:extLst>
                    <a:ext uri="{FF2B5EF4-FFF2-40B4-BE49-F238E27FC236}">
                      <a16:creationId xmlns:a16="http://schemas.microsoft.com/office/drawing/2014/main" id="{AB4E671C-0D00-881D-6228-990AAA8BB995}"/>
                    </a:ext>
                  </a:extLst>
                </p14:cNvPr>
                <p14:cNvContentPartPr/>
                <p14:nvPr/>
              </p14:nvContentPartPr>
              <p14:xfrm>
                <a:off x="8817502" y="4254546"/>
                <a:ext cx="360" cy="360"/>
              </p14:xfrm>
            </p:contentPart>
          </mc:Choice>
          <mc:Fallback xmlns="">
            <p:pic>
              <p:nvPicPr>
                <p:cNvPr id="8" name="Ink 7">
                  <a:extLst>
                    <a:ext uri="{FF2B5EF4-FFF2-40B4-BE49-F238E27FC236}">
                      <a16:creationId xmlns:a16="http://schemas.microsoft.com/office/drawing/2014/main" id="{AB4E671C-0D00-881D-6228-990AAA8BB995}"/>
                    </a:ext>
                  </a:extLst>
                </p:cNvPr>
                <p:cNvPicPr/>
                <p:nvPr/>
              </p:nvPicPr>
              <p:blipFill>
                <a:blip r:embed="rId6"/>
                <a:stretch>
                  <a:fillRect/>
                </a:stretch>
              </p:blipFill>
              <p:spPr>
                <a:xfrm>
                  <a:off x="8808502" y="424554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Ink 8">
                  <a:extLst>
                    <a:ext uri="{FF2B5EF4-FFF2-40B4-BE49-F238E27FC236}">
                      <a16:creationId xmlns:a16="http://schemas.microsoft.com/office/drawing/2014/main" id="{5074BA8D-6E06-F72E-61E7-D4F6B9634212}"/>
                    </a:ext>
                  </a:extLst>
                </p14:cNvPr>
                <p14:cNvContentPartPr/>
                <p14:nvPr/>
              </p14:nvContentPartPr>
              <p14:xfrm>
                <a:off x="8817502" y="4254546"/>
                <a:ext cx="360" cy="360"/>
              </p14:xfrm>
            </p:contentPart>
          </mc:Choice>
          <mc:Fallback xmlns="">
            <p:pic>
              <p:nvPicPr>
                <p:cNvPr id="9" name="Ink 8">
                  <a:extLst>
                    <a:ext uri="{FF2B5EF4-FFF2-40B4-BE49-F238E27FC236}">
                      <a16:creationId xmlns:a16="http://schemas.microsoft.com/office/drawing/2014/main" id="{5074BA8D-6E06-F72E-61E7-D4F6B9634212}"/>
                    </a:ext>
                  </a:extLst>
                </p:cNvPr>
                <p:cNvPicPr/>
                <p:nvPr/>
              </p:nvPicPr>
              <p:blipFill>
                <a:blip r:embed="rId6"/>
                <a:stretch>
                  <a:fillRect/>
                </a:stretch>
              </p:blipFill>
              <p:spPr>
                <a:xfrm>
                  <a:off x="8808502" y="424554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252868F8-44B7-D0EE-B17A-0BFF1A2AF8EC}"/>
                    </a:ext>
                  </a:extLst>
                </p14:cNvPr>
                <p14:cNvContentPartPr/>
                <p14:nvPr/>
              </p14:nvContentPartPr>
              <p14:xfrm>
                <a:off x="8807371" y="4192707"/>
                <a:ext cx="95040" cy="160560"/>
              </p14:xfrm>
            </p:contentPart>
          </mc:Choice>
          <mc:Fallback xmlns="">
            <p:pic>
              <p:nvPicPr>
                <p:cNvPr id="19" name="Ink 18">
                  <a:extLst>
                    <a:ext uri="{FF2B5EF4-FFF2-40B4-BE49-F238E27FC236}">
                      <a16:creationId xmlns:a16="http://schemas.microsoft.com/office/drawing/2014/main" id="{252868F8-44B7-D0EE-B17A-0BFF1A2AF8EC}"/>
                    </a:ext>
                  </a:extLst>
                </p:cNvPr>
                <p:cNvPicPr/>
                <p:nvPr/>
              </p:nvPicPr>
              <p:blipFill>
                <a:blip r:embed="rId22"/>
                <a:stretch>
                  <a:fillRect/>
                </a:stretch>
              </p:blipFill>
              <p:spPr>
                <a:xfrm>
                  <a:off x="8789731" y="4175067"/>
                  <a:ext cx="130680" cy="196200"/>
                </a:xfrm>
                <a:prstGeom prst="rect">
                  <a:avLst/>
                </a:prstGeom>
              </p:spPr>
            </p:pic>
          </mc:Fallback>
        </mc:AlternateContent>
      </p:grpSp>
    </p:spTree>
    <p:extLst>
      <p:ext uri="{BB962C8B-B14F-4D97-AF65-F5344CB8AC3E}">
        <p14:creationId xmlns:p14="http://schemas.microsoft.com/office/powerpoint/2010/main" val="1733345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1CB9C-9C4A-F2BE-8DCF-A8CE873D1ADB}"/>
              </a:ext>
            </a:extLst>
          </p:cNvPr>
          <p:cNvSpPr>
            <a:spLocks noGrp="1"/>
          </p:cNvSpPr>
          <p:nvPr>
            <p:ph type="title"/>
          </p:nvPr>
        </p:nvSpPr>
        <p:spPr>
          <a:xfrm>
            <a:off x="722313" y="1268760"/>
            <a:ext cx="7772400" cy="4500215"/>
          </a:xfrm>
        </p:spPr>
        <p:txBody>
          <a:bodyPr>
            <a:normAutofit/>
          </a:bodyPr>
          <a:lstStyle/>
          <a:p>
            <a:br>
              <a:rPr lang="en-IN" sz="1400" dirty="0"/>
            </a:br>
            <a:endParaRPr lang="en-IN" sz="1400" dirty="0"/>
          </a:p>
        </p:txBody>
      </p:sp>
      <p:sp>
        <p:nvSpPr>
          <p:cNvPr id="3" name="Text Placeholder 2">
            <a:extLst>
              <a:ext uri="{FF2B5EF4-FFF2-40B4-BE49-F238E27FC236}">
                <a16:creationId xmlns:a16="http://schemas.microsoft.com/office/drawing/2014/main" id="{3F61D061-6A5B-A022-FC20-59C1463D4521}"/>
              </a:ext>
            </a:extLst>
          </p:cNvPr>
          <p:cNvSpPr>
            <a:spLocks noGrp="1"/>
          </p:cNvSpPr>
          <p:nvPr>
            <p:ph type="body" idx="1"/>
          </p:nvPr>
        </p:nvSpPr>
        <p:spPr>
          <a:xfrm>
            <a:off x="539552" y="260648"/>
            <a:ext cx="7772400" cy="684362"/>
          </a:xfrm>
        </p:spPr>
        <p:txBody>
          <a:bodyPr/>
          <a:lstStyle/>
          <a:p>
            <a:pPr algn="ctr"/>
            <a:r>
              <a:rPr lang="en-IN" b="1" dirty="0">
                <a:solidFill>
                  <a:schemeClr val="tx1"/>
                </a:solidFill>
                <a:latin typeface="Times New Roman" panose="02020603050405020304" pitchFamily="18" charset="0"/>
                <a:cs typeface="Times New Roman" panose="02020603050405020304" pitchFamily="18" charset="0"/>
              </a:rPr>
              <a:t>Modules List and Detailed Explanation</a:t>
            </a:r>
          </a:p>
        </p:txBody>
      </p:sp>
      <p:sp>
        <p:nvSpPr>
          <p:cNvPr id="5" name="TextBox 4">
            <a:extLst>
              <a:ext uri="{FF2B5EF4-FFF2-40B4-BE49-F238E27FC236}">
                <a16:creationId xmlns:a16="http://schemas.microsoft.com/office/drawing/2014/main" id="{8C635237-8BD0-C883-A5CC-DC77A8B0F9FA}"/>
              </a:ext>
            </a:extLst>
          </p:cNvPr>
          <p:cNvSpPr txBox="1"/>
          <p:nvPr/>
        </p:nvSpPr>
        <p:spPr>
          <a:xfrm>
            <a:off x="141276" y="979710"/>
            <a:ext cx="8568952" cy="4801314"/>
          </a:xfrm>
          <a:prstGeom prst="rect">
            <a:avLst/>
          </a:prstGeom>
          <a:noFill/>
        </p:spPr>
        <p:txBody>
          <a:bodyPr wrap="square">
            <a:spAutoFit/>
          </a:bodyPr>
          <a:lstStyle/>
          <a:p>
            <a:pPr marL="342900" indent="-342900" algn="just">
              <a:buAutoNum type="arabicPeriod"/>
            </a:pPr>
            <a:r>
              <a:rPr lang="en-US" b="1" u="sng" dirty="0">
                <a:latin typeface="Times New Roman" panose="02020603050405020304" pitchFamily="18" charset="0"/>
                <a:cs typeface="Times New Roman" panose="02020603050405020304" pitchFamily="18" charset="0"/>
              </a:rPr>
              <a:t>Image Input, Preprocessing &amp; Data Handling Module</a:t>
            </a:r>
          </a:p>
          <a:p>
            <a:pPr algn="just"/>
            <a:endParaRPr lang="en-US" b="1"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Image Input Module</a:t>
            </a:r>
          </a:p>
          <a:p>
            <a:pPr marL="400050" indent="-400050" algn="just">
              <a:buFont typeface="+mj-lt"/>
              <a:buAutoNum type="romanUcPeriod"/>
            </a:pPr>
            <a:r>
              <a:rPr lang="en-US" dirty="0">
                <a:latin typeface="Times New Roman" panose="02020603050405020304" pitchFamily="18" charset="0"/>
                <a:cs typeface="Times New Roman" panose="02020603050405020304" pitchFamily="18" charset="0"/>
              </a:rPr>
              <a:t>The system accepts plant leaf images from Apple and Grape datasets stored in Google Drive. </a:t>
            </a:r>
          </a:p>
          <a:p>
            <a:pPr marL="400050" indent="-400050" algn="just">
              <a:buFont typeface="+mj-lt"/>
              <a:buAutoNum type="romanUcPeriod"/>
            </a:pPr>
            <a:r>
              <a:rPr lang="en-US" dirty="0">
                <a:latin typeface="Times New Roman" panose="02020603050405020304" pitchFamily="18" charset="0"/>
                <a:cs typeface="Times New Roman" panose="02020603050405020304" pitchFamily="18" charset="0"/>
              </a:rPr>
              <a:t>Supports multi-class classification with automatic label generation. </a:t>
            </a:r>
          </a:p>
          <a:p>
            <a:pPr marL="400050" indent="-400050" algn="just">
              <a:buFont typeface="+mj-lt"/>
              <a:buAutoNum type="romanUcPeriod"/>
            </a:pPr>
            <a:r>
              <a:rPr lang="en-US" dirty="0">
                <a:latin typeface="Times New Roman" panose="02020603050405020304" pitchFamily="18" charset="0"/>
                <a:cs typeface="Times New Roman" panose="02020603050405020304" pitchFamily="18" charset="0"/>
              </a:rPr>
              <a:t>Ensures reproducibility by using fixed random seed values. </a:t>
            </a:r>
          </a:p>
          <a:p>
            <a:pPr algn="just"/>
            <a:endParaRPr lang="en-US"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Data Preprocessing Module</a:t>
            </a:r>
          </a:p>
          <a:p>
            <a:pPr marL="400050" indent="-400050" algn="just">
              <a:buFont typeface="+mj-lt"/>
              <a:buAutoNum type="romanUcPeriod"/>
            </a:pPr>
            <a:r>
              <a:rPr lang="en-US" dirty="0">
                <a:latin typeface="Times New Roman" panose="02020603050405020304" pitchFamily="18" charset="0"/>
                <a:cs typeface="Times New Roman" panose="02020603050405020304" pitchFamily="18" charset="0"/>
              </a:rPr>
              <a:t>Images are resized to 128 × 128 pixels to reduce computational complexity. </a:t>
            </a:r>
          </a:p>
          <a:p>
            <a:pPr marL="400050" indent="-400050" algn="just">
              <a:buFont typeface="+mj-lt"/>
              <a:buAutoNum type="romanUcPeriod"/>
            </a:pPr>
            <a:r>
              <a:rPr lang="en-US" dirty="0">
                <a:latin typeface="Times New Roman" panose="02020603050405020304" pitchFamily="18" charset="0"/>
                <a:cs typeface="Times New Roman" panose="02020603050405020304" pitchFamily="18" charset="0"/>
              </a:rPr>
              <a:t>Pixel values are normalized using rescaling (1/255) for stable training. </a:t>
            </a:r>
          </a:p>
          <a:p>
            <a:pPr marL="400050" indent="-400050" algn="just">
              <a:buFont typeface="+mj-lt"/>
              <a:buAutoNum type="romanUcPeriod"/>
            </a:pPr>
            <a:r>
              <a:rPr lang="en-US" dirty="0">
                <a:latin typeface="Times New Roman" panose="02020603050405020304" pitchFamily="18" charset="0"/>
                <a:cs typeface="Times New Roman" panose="02020603050405020304" pitchFamily="18" charset="0"/>
              </a:rPr>
              <a:t>Dataset is split into training (80%) and validation (20%) sets. </a:t>
            </a:r>
          </a:p>
          <a:p>
            <a:pPr algn="just"/>
            <a:endParaRPr lang="en-US" dirty="0">
              <a:latin typeface="Times New Roman" panose="02020603050405020304" pitchFamily="18" charset="0"/>
              <a:cs typeface="Times New Roman" panose="02020603050405020304" pitchFamily="18" charset="0"/>
            </a:endParaRPr>
          </a:p>
          <a:p>
            <a:pPr algn="just"/>
            <a:r>
              <a:rPr lang="en-US" b="1" u="sng" dirty="0">
                <a:latin typeface="Times New Roman" panose="02020603050405020304" pitchFamily="18" charset="0"/>
                <a:cs typeface="Times New Roman" panose="02020603050405020304" pitchFamily="18" charset="0"/>
              </a:rPr>
              <a:t>Efficient Data Loading</a:t>
            </a:r>
          </a:p>
          <a:p>
            <a:pPr marL="400050" indent="-400050" algn="just">
              <a:buFont typeface="+mj-lt"/>
              <a:buAutoNum type="romanUcPeriod"/>
            </a:pPr>
            <a:r>
              <a:rPr lang="en-US" dirty="0">
                <a:latin typeface="Times New Roman" panose="02020603050405020304" pitchFamily="18" charset="0"/>
                <a:cs typeface="Times New Roman" panose="02020603050405020304" pitchFamily="18" charset="0"/>
              </a:rPr>
              <a:t>Uses batch-based loading through </a:t>
            </a:r>
            <a:r>
              <a:rPr lang="en-US" dirty="0" err="1">
                <a:latin typeface="Times New Roman" panose="02020603050405020304" pitchFamily="18" charset="0"/>
                <a:cs typeface="Times New Roman" panose="02020603050405020304" pitchFamily="18" charset="0"/>
              </a:rPr>
              <a:t>ImageDataGenerator</a:t>
            </a:r>
            <a:r>
              <a:rPr lang="en-US" dirty="0">
                <a:latin typeface="Times New Roman" panose="02020603050405020304" pitchFamily="18" charset="0"/>
                <a:cs typeface="Times New Roman" panose="02020603050405020304" pitchFamily="18" charset="0"/>
              </a:rPr>
              <a:t>. </a:t>
            </a:r>
          </a:p>
          <a:p>
            <a:pPr marL="400050" indent="-400050" algn="just">
              <a:buFont typeface="+mj-lt"/>
              <a:buAutoNum type="romanUcPeriod"/>
            </a:pPr>
            <a:r>
              <a:rPr lang="en-US" dirty="0">
                <a:latin typeface="Times New Roman" panose="02020603050405020304" pitchFamily="18" charset="0"/>
                <a:cs typeface="Times New Roman" panose="02020603050405020304" pitchFamily="18" charset="0"/>
              </a:rPr>
              <a:t>Shuffling is applied during training to improve generalization performance.</a:t>
            </a:r>
          </a:p>
          <a:p>
            <a:pPr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8966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260648"/>
            <a:ext cx="8784976" cy="6408712"/>
          </a:xfrm>
        </p:spPr>
        <p:txBody>
          <a:bodyPr>
            <a:normAutofit/>
          </a:bodyPr>
          <a:lstStyle/>
          <a:p>
            <a:pPr marL="0" indent="0">
              <a:buNone/>
            </a:pPr>
            <a:r>
              <a:rPr lang="en-US" sz="2000" b="1" u="sng" dirty="0">
                <a:latin typeface="Times New Roman" panose="02020603050405020304" pitchFamily="18" charset="0"/>
                <a:cs typeface="Times New Roman" panose="02020603050405020304" pitchFamily="18" charset="0"/>
              </a:rPr>
              <a:t>2. Data Augmentation &amp; Training Optimization Module</a:t>
            </a:r>
          </a:p>
          <a:p>
            <a:pPr marL="0" indent="0">
              <a:buNone/>
            </a:pPr>
            <a:endParaRPr lang="en-US" sz="2000" b="1" dirty="0"/>
          </a:p>
          <a:p>
            <a:pPr marL="0" indent="0" algn="just">
              <a:buNone/>
            </a:pPr>
            <a:r>
              <a:rPr lang="en-US" sz="1800" b="1" dirty="0">
                <a:latin typeface="Times New Roman" panose="02020603050405020304" pitchFamily="18" charset="0"/>
                <a:cs typeface="Times New Roman" panose="02020603050405020304" pitchFamily="18" charset="0"/>
              </a:rPr>
              <a:t>Data Augmentation Module</a:t>
            </a:r>
          </a:p>
          <a:p>
            <a:pPr marL="514350" indent="-514350" algn="just">
              <a:buFont typeface="+mj-lt"/>
              <a:buAutoNum type="romanUcPeriod"/>
            </a:pPr>
            <a:r>
              <a:rPr lang="en-US" sz="1800" dirty="0">
                <a:latin typeface="Times New Roman" panose="02020603050405020304" pitchFamily="18" charset="0"/>
                <a:cs typeface="Times New Roman" panose="02020603050405020304" pitchFamily="18" charset="0"/>
              </a:rPr>
              <a:t>Rotation is applied to simulate different viewing angles. </a:t>
            </a:r>
          </a:p>
          <a:p>
            <a:pPr marL="514350" indent="-514350" algn="just">
              <a:buFont typeface="+mj-lt"/>
              <a:buAutoNum type="romanUcPeriod"/>
            </a:pPr>
            <a:r>
              <a:rPr lang="en-US" sz="1800" dirty="0">
                <a:latin typeface="Times New Roman" panose="02020603050405020304" pitchFamily="18" charset="0"/>
                <a:cs typeface="Times New Roman" panose="02020603050405020304" pitchFamily="18" charset="0"/>
              </a:rPr>
              <a:t>Width and height shifting introduce positional variations. </a:t>
            </a:r>
          </a:p>
          <a:p>
            <a:pPr marL="514350" indent="-514350" algn="just">
              <a:buFont typeface="+mj-lt"/>
              <a:buAutoNum type="romanUcPeriod"/>
            </a:pPr>
            <a:r>
              <a:rPr lang="en-US" sz="1800" dirty="0">
                <a:latin typeface="Times New Roman" panose="02020603050405020304" pitchFamily="18" charset="0"/>
                <a:cs typeface="Times New Roman" panose="02020603050405020304" pitchFamily="18" charset="0"/>
              </a:rPr>
              <a:t>Shearing helps simulate geometric distortions. </a:t>
            </a:r>
          </a:p>
          <a:p>
            <a:pPr marL="514350" indent="-514350" algn="just">
              <a:buFont typeface="+mj-lt"/>
              <a:buAutoNum type="romanUcPeriod"/>
            </a:pPr>
            <a:r>
              <a:rPr lang="en-US" sz="1800" dirty="0">
                <a:latin typeface="Times New Roman" panose="02020603050405020304" pitchFamily="18" charset="0"/>
                <a:cs typeface="Times New Roman" panose="02020603050405020304" pitchFamily="18" charset="0"/>
              </a:rPr>
              <a:t>Zooming captures variations in leaf size. </a:t>
            </a:r>
          </a:p>
          <a:p>
            <a:pPr marL="514350" indent="-514350" algn="just">
              <a:buFont typeface="+mj-lt"/>
              <a:buAutoNum type="romanUcPeriod"/>
            </a:pPr>
            <a:r>
              <a:rPr lang="en-US" sz="1800" dirty="0">
                <a:latin typeface="Times New Roman" panose="02020603050405020304" pitchFamily="18" charset="0"/>
                <a:cs typeface="Times New Roman" panose="02020603050405020304" pitchFamily="18" charset="0"/>
              </a:rPr>
              <a:t>Horizontal and vertical flipping increase dataset diversity. </a:t>
            </a:r>
          </a:p>
          <a:p>
            <a:pPr marL="514350" indent="-514350" algn="just">
              <a:buFont typeface="+mj-lt"/>
              <a:buAutoNum type="romanUcPeriod"/>
            </a:pPr>
            <a:r>
              <a:rPr lang="en-US" sz="1800" dirty="0">
                <a:latin typeface="Times New Roman" panose="02020603050405020304" pitchFamily="18" charset="0"/>
                <a:cs typeface="Times New Roman" panose="02020603050405020304" pitchFamily="18" charset="0"/>
              </a:rPr>
              <a:t>Brightness variation helps handle different lighting conditions.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Training Optimization Module</a:t>
            </a:r>
          </a:p>
          <a:p>
            <a:pPr marL="514350" indent="-514350" algn="just">
              <a:buFont typeface="+mj-lt"/>
              <a:buAutoNum type="romanUcPeriod"/>
            </a:pPr>
            <a:r>
              <a:rPr lang="en-US" sz="1800" dirty="0">
                <a:latin typeface="Times New Roman" panose="02020603050405020304" pitchFamily="18" charset="0"/>
                <a:cs typeface="Times New Roman" panose="02020603050405020304" pitchFamily="18" charset="0"/>
              </a:rPr>
              <a:t>Mixed precision training (mixed_float16) is used to reduce memory usage and speed up computation. </a:t>
            </a:r>
          </a:p>
          <a:p>
            <a:pPr marL="514350" indent="-514350" algn="just">
              <a:buFont typeface="+mj-lt"/>
              <a:buAutoNum type="romanUcPeriod"/>
            </a:pPr>
            <a:r>
              <a:rPr lang="en-US" sz="1800" dirty="0">
                <a:latin typeface="Times New Roman" panose="02020603050405020304" pitchFamily="18" charset="0"/>
                <a:cs typeface="Times New Roman" panose="02020603050405020304" pitchFamily="18" charset="0"/>
              </a:rPr>
              <a:t>Early stopping is applied to prevent overfitting by monitoring validation loss. </a:t>
            </a:r>
          </a:p>
          <a:p>
            <a:pPr marL="514350" indent="-514350" algn="just">
              <a:buFont typeface="+mj-lt"/>
              <a:buAutoNum type="romanUcPeriod"/>
            </a:pPr>
            <a:r>
              <a:rPr lang="en-US" sz="1800" dirty="0">
                <a:latin typeface="Times New Roman" panose="02020603050405020304" pitchFamily="18" charset="0"/>
                <a:cs typeface="Times New Roman" panose="02020603050405020304" pitchFamily="18" charset="0"/>
              </a:rPr>
              <a:t>Learning rate is dynamically adjusted using </a:t>
            </a:r>
            <a:r>
              <a:rPr lang="en-US" sz="1800" dirty="0" err="1">
                <a:latin typeface="Times New Roman" panose="02020603050405020304" pitchFamily="18" charset="0"/>
                <a:cs typeface="Times New Roman" panose="02020603050405020304" pitchFamily="18" charset="0"/>
              </a:rPr>
              <a:t>ReduceLROnPlateau</a:t>
            </a:r>
            <a:r>
              <a:rPr lang="en-US" sz="1800" dirty="0">
                <a:latin typeface="Times New Roman" panose="02020603050405020304" pitchFamily="18" charset="0"/>
                <a:cs typeface="Times New Roman" panose="02020603050405020304" pitchFamily="18" charset="0"/>
              </a:rPr>
              <a:t>. </a:t>
            </a:r>
          </a:p>
          <a:p>
            <a:pPr marL="514350" indent="-514350" algn="just">
              <a:buFont typeface="+mj-lt"/>
              <a:buAutoNum type="romanUcPeriod"/>
            </a:pPr>
            <a:r>
              <a:rPr lang="en-US" sz="1800" dirty="0" err="1">
                <a:latin typeface="Times New Roman" panose="02020603050405020304" pitchFamily="18" charset="0"/>
                <a:cs typeface="Times New Roman" panose="02020603050405020304" pitchFamily="18" charset="0"/>
              </a:rPr>
              <a:t>ModelCheckpoint</a:t>
            </a:r>
            <a:r>
              <a:rPr lang="en-US" sz="1800" dirty="0">
                <a:latin typeface="Times New Roman" panose="02020603050405020304" pitchFamily="18" charset="0"/>
                <a:cs typeface="Times New Roman" panose="02020603050405020304" pitchFamily="18" charset="0"/>
              </a:rPr>
              <a:t> is used to save the best-performing model during training.</a:t>
            </a:r>
          </a:p>
          <a:p>
            <a:pPr marL="0" lvl="0" indent="0" eaLnBrk="0" fontAlgn="base" hangingPunct="0">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6433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756457A-E814-A907-701F-858E7A784E51}"/>
              </a:ext>
            </a:extLst>
          </p:cNvPr>
          <p:cNvSpPr>
            <a:spLocks noGrp="1" noChangeArrowheads="1"/>
          </p:cNvSpPr>
          <p:nvPr>
            <p:ph idx="1"/>
          </p:nvPr>
        </p:nvSpPr>
        <p:spPr bwMode="auto">
          <a:xfrm>
            <a:off x="251520" y="471157"/>
            <a:ext cx="850728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2000" b="1" u="sng" dirty="0">
                <a:latin typeface="Times New Roman" panose="02020603050405020304" pitchFamily="18" charset="0"/>
                <a:cs typeface="Times New Roman" panose="02020603050405020304" pitchFamily="18" charset="0"/>
              </a:rPr>
              <a:t>3. Feature Extraction &amp; Hybrid Model Architecture Module</a:t>
            </a:r>
          </a:p>
          <a:p>
            <a:endParaRPr lang="en-US" sz="1800" b="1" dirty="0"/>
          </a:p>
          <a:p>
            <a:pPr marL="0" indent="0" algn="just">
              <a:buNone/>
            </a:pPr>
            <a:r>
              <a:rPr lang="en-US" sz="1800" b="1" dirty="0">
                <a:latin typeface="Times New Roman" panose="02020603050405020304" pitchFamily="18" charset="0"/>
                <a:cs typeface="Times New Roman" panose="02020603050405020304" pitchFamily="18" charset="0"/>
              </a:rPr>
              <a:t>CNN Feature Extraction (EfficientNetV2-S)</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EfficientNetV2-S is used as the backbone with pretrained ImageNet weights.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Lower layers are frozen to retain learned features.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Extracts fine-grained features such as leaf textures, spots, and disease patterns.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Transformer-Based Feature Extraction (MobileViTv2)</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MobileViTv2 block combines convolution and attention mechanisms.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Uses Multi-Head Self-Attention for capturing global dependencies.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Helps understand relationships across different regions of the leaf.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Feature Fusion Module</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Features from both branches are globally pooled.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Projected into a common feature space.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Combined using gated feature fusion to improve discrimination capability.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8487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3F37FE0D-625F-CF2C-ADA4-341276ADF5F6}"/>
              </a:ext>
            </a:extLst>
          </p:cNvPr>
          <p:cNvSpPr txBox="1">
            <a:spLocks noChangeArrowheads="1"/>
          </p:cNvSpPr>
          <p:nvPr/>
        </p:nvSpPr>
        <p:spPr bwMode="auto">
          <a:xfrm>
            <a:off x="179512" y="0"/>
            <a:ext cx="8507288" cy="712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u="sng" dirty="0">
                <a:latin typeface="Times New Roman" panose="02020603050405020304" pitchFamily="18" charset="0"/>
                <a:cs typeface="Times New Roman" panose="02020603050405020304" pitchFamily="18" charset="0"/>
              </a:rPr>
              <a:t>4. Classification, Evaluation &amp; Result Visualization Module</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Disease Classification Module</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Fused features pass through dense layers.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Uses Swish activation for better learning performance.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Batch normalization improves stability.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Dropout is applied to reduce overfitting.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Final </a:t>
            </a:r>
            <a:r>
              <a:rPr lang="en-US" sz="1800" dirty="0" err="1">
                <a:latin typeface="Times New Roman" panose="02020603050405020304" pitchFamily="18" charset="0"/>
                <a:cs typeface="Times New Roman" panose="02020603050405020304" pitchFamily="18" charset="0"/>
              </a:rPr>
              <a:t>softmax</a:t>
            </a:r>
            <a:r>
              <a:rPr lang="en-US" sz="1800" dirty="0">
                <a:latin typeface="Times New Roman" panose="02020603050405020304" pitchFamily="18" charset="0"/>
                <a:cs typeface="Times New Roman" panose="02020603050405020304" pitchFamily="18" charset="0"/>
              </a:rPr>
              <a:t> layer outputs class probabilities.</a:t>
            </a:r>
          </a:p>
          <a:p>
            <a:pPr marL="0" indent="0" algn="just">
              <a:buNone/>
            </a:pPr>
            <a:r>
              <a:rPr lang="en-US" sz="1800" b="1" dirty="0">
                <a:latin typeface="Times New Roman" panose="02020603050405020304" pitchFamily="18" charset="0"/>
                <a:cs typeface="Times New Roman" panose="02020603050405020304" pitchFamily="18" charset="0"/>
              </a:rPr>
              <a:t>Performance Evaluation Module</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Model is evaluated using: </a:t>
            </a:r>
          </a:p>
          <a:p>
            <a:pPr marL="857250" lvl="1" indent="-400050" algn="just">
              <a:buFont typeface="+mj-lt"/>
              <a:buAutoNum type="romanUcPeriod"/>
            </a:pPr>
            <a:r>
              <a:rPr lang="en-US" sz="1800" dirty="0">
                <a:latin typeface="Times New Roman" panose="02020603050405020304" pitchFamily="18" charset="0"/>
                <a:cs typeface="Times New Roman" panose="02020603050405020304" pitchFamily="18" charset="0"/>
              </a:rPr>
              <a:t>Accuracy </a:t>
            </a:r>
          </a:p>
          <a:p>
            <a:pPr marL="857250" lvl="1" indent="-400050" algn="just">
              <a:buFont typeface="+mj-lt"/>
              <a:buAutoNum type="romanUcPeriod"/>
            </a:pPr>
            <a:r>
              <a:rPr lang="en-US" sz="1800" dirty="0">
                <a:latin typeface="Times New Roman" panose="02020603050405020304" pitchFamily="18" charset="0"/>
                <a:cs typeface="Times New Roman" panose="02020603050405020304" pitchFamily="18" charset="0"/>
              </a:rPr>
              <a:t>Precision </a:t>
            </a:r>
          </a:p>
          <a:p>
            <a:pPr marL="857250" lvl="1" indent="-400050" algn="just">
              <a:buFont typeface="+mj-lt"/>
              <a:buAutoNum type="romanUcPeriod"/>
            </a:pPr>
            <a:r>
              <a:rPr lang="en-US" sz="1800" dirty="0">
                <a:latin typeface="Times New Roman" panose="02020603050405020304" pitchFamily="18" charset="0"/>
                <a:cs typeface="Times New Roman" panose="02020603050405020304" pitchFamily="18" charset="0"/>
              </a:rPr>
              <a:t>Recall </a:t>
            </a:r>
          </a:p>
          <a:p>
            <a:pPr marL="857250" lvl="1" indent="-400050" algn="just">
              <a:buFont typeface="+mj-lt"/>
              <a:buAutoNum type="romanUcPeriod"/>
            </a:pPr>
            <a:r>
              <a:rPr lang="en-US" sz="1800" dirty="0">
                <a:latin typeface="Times New Roman" panose="02020603050405020304" pitchFamily="18" charset="0"/>
                <a:cs typeface="Times New Roman" panose="02020603050405020304" pitchFamily="18" charset="0"/>
              </a:rPr>
              <a:t>F1-score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Confusion matrix provides detailed class-wise performance.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Classification report gives complete evaluation metrics. </a:t>
            </a:r>
          </a:p>
          <a:p>
            <a:pPr marL="0" indent="0" algn="just">
              <a:buNone/>
            </a:pPr>
            <a:r>
              <a:rPr lang="en-US" sz="1800" b="1" dirty="0">
                <a:latin typeface="Times New Roman" panose="02020603050405020304" pitchFamily="18" charset="0"/>
                <a:cs typeface="Times New Roman" panose="02020603050405020304" pitchFamily="18" charset="0"/>
              </a:rPr>
              <a:t>Result Visualization &amp; Inference Module</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Training curves (accuracy, loss, precision, recall) are plotted.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Random test images are predicted with confidence scores.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Grad-CAM visualization highlights important regions influencing predictions. </a:t>
            </a:r>
          </a:p>
          <a:p>
            <a:pPr marL="400050" indent="-400050" algn="just">
              <a:buFont typeface="+mj-lt"/>
              <a:buAutoNum type="romanUcPeriod"/>
            </a:pPr>
            <a:r>
              <a:rPr lang="en-US" sz="1800" dirty="0">
                <a:latin typeface="Times New Roman" panose="02020603050405020304" pitchFamily="18" charset="0"/>
                <a:cs typeface="Times New Roman" panose="02020603050405020304" pitchFamily="18" charset="0"/>
              </a:rPr>
              <a:t>Final trained model is saved for future deployment.</a:t>
            </a:r>
          </a:p>
          <a:p>
            <a:pPr marL="0" indent="0" eaLnBrk="0" fontAlgn="base" hangingPunct="0">
              <a:spcBef>
                <a:spcPct val="0"/>
              </a:spcBef>
              <a:spcAft>
                <a:spcPct val="0"/>
              </a:spcAft>
              <a:buFontTx/>
              <a:buNone/>
            </a:pPr>
            <a:endParaRPr lang="en-US" alt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39620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5296"/>
          </a:xfrm>
        </p:spPr>
        <p:txBody>
          <a:bodyPr>
            <a:normAutofit/>
          </a:bodyPr>
          <a:lstStyle/>
          <a:p>
            <a:r>
              <a:rPr lang="en-US" sz="2000" b="1" dirty="0">
                <a:latin typeface="Times New Roman" panose="02020603050405020304" pitchFamily="18" charset="0"/>
                <a:cs typeface="Times New Roman" panose="02020603050405020304" pitchFamily="18" charset="0"/>
              </a:rPr>
              <a:t>D</a:t>
            </a:r>
            <a:r>
              <a:rPr lang="en-IN" sz="2000" b="1" dirty="0" err="1">
                <a:latin typeface="Times New Roman" panose="02020603050405020304" pitchFamily="18" charset="0"/>
                <a:cs typeface="Times New Roman" panose="02020603050405020304" pitchFamily="18" charset="0"/>
              </a:rPr>
              <a:t>ataSet</a:t>
            </a:r>
            <a:r>
              <a:rPr lang="en-IN" sz="2000" b="1" dirty="0">
                <a:latin typeface="Times New Roman" panose="02020603050405020304" pitchFamily="18" charset="0"/>
                <a:cs typeface="Times New Roman" panose="02020603050405020304" pitchFamily="18" charset="0"/>
              </a:rPr>
              <a:t> Description </a:t>
            </a:r>
          </a:p>
        </p:txBody>
      </p:sp>
      <p:sp>
        <p:nvSpPr>
          <p:cNvPr id="5" name="Rectangle 3">
            <a:extLst>
              <a:ext uri="{FF2B5EF4-FFF2-40B4-BE49-F238E27FC236}">
                <a16:creationId xmlns:a16="http://schemas.microsoft.com/office/drawing/2014/main" id="{BF6C5BAC-4F7B-C964-21ED-F95915B5C80D}"/>
              </a:ext>
            </a:extLst>
          </p:cNvPr>
          <p:cNvSpPr>
            <a:spLocks noGrp="1" noChangeArrowheads="1"/>
          </p:cNvSpPr>
          <p:nvPr>
            <p:ph idx="1"/>
          </p:nvPr>
        </p:nvSpPr>
        <p:spPr bwMode="auto">
          <a:xfrm>
            <a:off x="107505" y="1124744"/>
            <a:ext cx="9036496" cy="3937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1800" dirty="0">
                <a:latin typeface="Times New Roman" panose="02020603050405020304" pitchFamily="18" charset="0"/>
                <a:cs typeface="Times New Roman" panose="02020603050405020304" pitchFamily="18" charset="0"/>
              </a:rPr>
              <a:t>The dataset used in this project consists of plant leaf images belonging to Apple and Grape crops, covering both healthy and diseased classes. The dataset is collected from publicly available sources such as </a:t>
            </a:r>
            <a:r>
              <a:rPr lang="en-US" sz="1800" dirty="0" err="1">
                <a:latin typeface="Times New Roman" panose="02020603050405020304" pitchFamily="18" charset="0"/>
                <a:cs typeface="Times New Roman" panose="02020603050405020304" pitchFamily="18" charset="0"/>
              </a:rPr>
              <a:t>PlantVillage</a:t>
            </a:r>
            <a:r>
              <a:rPr lang="en-US" sz="1800" dirty="0">
                <a:latin typeface="Times New Roman" panose="02020603050405020304" pitchFamily="18" charset="0"/>
                <a:cs typeface="Times New Roman" panose="02020603050405020304" pitchFamily="18" charset="0"/>
              </a:rPr>
              <a:t> and organized into multiple categories based on disease type.</a:t>
            </a:r>
          </a:p>
          <a:p>
            <a:pPr marL="0" indent="0" algn="just">
              <a:buNone/>
            </a:pPr>
            <a:r>
              <a:rPr lang="en-US" sz="1800" dirty="0">
                <a:latin typeface="Times New Roman" panose="02020603050405020304" pitchFamily="18" charset="0"/>
                <a:cs typeface="Times New Roman" panose="02020603050405020304" pitchFamily="18" charset="0"/>
              </a:rPr>
              <a:t>Each image represents a single leaf captured under controlled or natural environmental conditions. The dataset includes variations in lighting, background, orientation, and disease severity, which helps the model learn robust and generalized features.</a:t>
            </a:r>
          </a:p>
          <a:p>
            <a:pPr marL="0" indent="0" algn="just">
              <a:buNone/>
            </a:pPr>
            <a:r>
              <a:rPr lang="en-US" sz="1800" dirty="0">
                <a:latin typeface="Times New Roman" panose="02020603050405020304" pitchFamily="18" charset="0"/>
                <a:cs typeface="Times New Roman" panose="02020603050405020304" pitchFamily="18" charset="0"/>
              </a:rPr>
              <a:t>The dataset is divided into </a:t>
            </a:r>
            <a:r>
              <a:rPr lang="en-US" sz="1800" b="1" dirty="0">
                <a:latin typeface="Times New Roman" panose="02020603050405020304" pitchFamily="18" charset="0"/>
                <a:cs typeface="Times New Roman" panose="02020603050405020304" pitchFamily="18" charset="0"/>
              </a:rPr>
              <a:t>training and validation sets</a:t>
            </a:r>
            <a:r>
              <a:rPr lang="en-US" sz="1800" dirty="0">
                <a:latin typeface="Times New Roman" panose="02020603050405020304" pitchFamily="18" charset="0"/>
                <a:cs typeface="Times New Roman" panose="02020603050405020304" pitchFamily="18" charset="0"/>
              </a:rPr>
              <a:t> using an 80:20 split. The training set is used to train the model, while the validation set is used to evaluate its performance during training.</a:t>
            </a:r>
          </a:p>
          <a:p>
            <a:pPr marL="0" indent="0">
              <a:buNone/>
            </a:pPr>
            <a:endParaRPr lang="en-US" sz="1800" dirty="0"/>
          </a:p>
          <a:p>
            <a:pPr marL="0" indent="0">
              <a:buNone/>
            </a:pPr>
            <a:endParaRPr lang="en-US" sz="18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F146452A-B04D-6AC3-346A-D8B4A04E9663}"/>
              </a:ext>
            </a:extLst>
          </p:cNvPr>
          <p:cNvPicPr>
            <a:picLocks noChangeAspect="1"/>
          </p:cNvPicPr>
          <p:nvPr/>
        </p:nvPicPr>
        <p:blipFill>
          <a:blip r:embed="rId2"/>
          <a:stretch>
            <a:fillRect/>
          </a:stretch>
        </p:blipFill>
        <p:spPr>
          <a:xfrm>
            <a:off x="457200" y="4221087"/>
            <a:ext cx="3538736" cy="2113797"/>
          </a:xfrm>
          <a:prstGeom prst="rect">
            <a:avLst/>
          </a:prstGeom>
        </p:spPr>
      </p:pic>
      <p:pic>
        <p:nvPicPr>
          <p:cNvPr id="7" name="Picture 6">
            <a:extLst>
              <a:ext uri="{FF2B5EF4-FFF2-40B4-BE49-F238E27FC236}">
                <a16:creationId xmlns:a16="http://schemas.microsoft.com/office/drawing/2014/main" id="{E2B77A2C-6B1D-9F3A-A96B-1DFF7DC27749}"/>
              </a:ext>
            </a:extLst>
          </p:cNvPr>
          <p:cNvPicPr>
            <a:picLocks noChangeAspect="1"/>
          </p:cNvPicPr>
          <p:nvPr/>
        </p:nvPicPr>
        <p:blipFill>
          <a:blip r:embed="rId3"/>
          <a:stretch>
            <a:fillRect/>
          </a:stretch>
        </p:blipFill>
        <p:spPr>
          <a:xfrm>
            <a:off x="4283967" y="4275274"/>
            <a:ext cx="4501703" cy="2059609"/>
          </a:xfrm>
          <a:prstGeom prst="rect">
            <a:avLst/>
          </a:prstGeom>
        </p:spPr>
      </p:pic>
    </p:spTree>
    <p:extLst>
      <p:ext uri="{BB962C8B-B14F-4D97-AF65-F5344CB8AC3E}">
        <p14:creationId xmlns:p14="http://schemas.microsoft.com/office/powerpoint/2010/main" val="3531108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576063"/>
          </a:xfrm>
        </p:spPr>
        <p:txBody>
          <a:bodyPr>
            <a:normAutofit/>
          </a:bodyPr>
          <a:lstStyle/>
          <a:p>
            <a:r>
              <a:rPr lang="en-IN" sz="2000" b="1" dirty="0">
                <a:latin typeface="Times New Roman" panose="02020603050405020304" pitchFamily="18" charset="0"/>
                <a:cs typeface="Times New Roman" panose="02020603050405020304" pitchFamily="18" charset="0"/>
              </a:rPr>
              <a:t>Implementation Tools/Software</a:t>
            </a:r>
          </a:p>
        </p:txBody>
      </p:sp>
      <p:sp>
        <p:nvSpPr>
          <p:cNvPr id="5" name="Rectangle 2">
            <a:extLst>
              <a:ext uri="{FF2B5EF4-FFF2-40B4-BE49-F238E27FC236}">
                <a16:creationId xmlns:a16="http://schemas.microsoft.com/office/drawing/2014/main" id="{934F7FDF-FA18-8489-7823-6798F9DE99D4}"/>
              </a:ext>
            </a:extLst>
          </p:cNvPr>
          <p:cNvSpPr>
            <a:spLocks noGrp="1" noChangeArrowheads="1"/>
          </p:cNvSpPr>
          <p:nvPr>
            <p:ph idx="1"/>
          </p:nvPr>
        </p:nvSpPr>
        <p:spPr bwMode="auto">
          <a:xfrm>
            <a:off x="179450" y="832057"/>
            <a:ext cx="87851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buNone/>
            </a:pPr>
            <a:r>
              <a:rPr lang="en-US" sz="1800" b="1" dirty="0">
                <a:latin typeface="Times New Roman" panose="02020603050405020304" pitchFamily="18" charset="0"/>
                <a:cs typeface="Times New Roman" panose="02020603050405020304" pitchFamily="18" charset="0"/>
              </a:rPr>
              <a:t>1) Programming Language</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i</a:t>
            </a:r>
            <a:r>
              <a:rPr lang="en-US" sz="1800" b="1" dirty="0">
                <a:latin typeface="Times New Roman" panose="02020603050405020304" pitchFamily="18" charset="0"/>
                <a:cs typeface="Times New Roman" panose="02020603050405020304" pitchFamily="18" charset="0"/>
              </a:rPr>
              <a:t>) Python</a:t>
            </a:r>
            <a:r>
              <a:rPr lang="en-US" sz="1800" dirty="0">
                <a:latin typeface="Times New Roman" panose="02020603050405020304" pitchFamily="18" charset="0"/>
                <a:cs typeface="Times New Roman" panose="02020603050405020304" pitchFamily="18" charset="0"/>
              </a:rPr>
              <a:t> </a:t>
            </a:r>
          </a:p>
          <a:p>
            <a:pPr marL="457200" lvl="1" indent="0" algn="just">
              <a:buNone/>
            </a:pPr>
            <a:r>
              <a:rPr lang="en-US" sz="1800" dirty="0">
                <a:latin typeface="Times New Roman" panose="02020603050405020304" pitchFamily="18" charset="0"/>
                <a:cs typeface="Times New Roman" panose="02020603050405020304" pitchFamily="18" charset="0"/>
              </a:rPr>
              <a:t>Used to develop and implement the entire model .Easy to use and supports many AI and deep learning libraries </a:t>
            </a:r>
          </a:p>
          <a:p>
            <a:pPr marL="0" indent="0" algn="just">
              <a:buNone/>
            </a:pPr>
            <a:r>
              <a:rPr lang="en-US" sz="1800" b="1" dirty="0">
                <a:latin typeface="Times New Roman" panose="02020603050405020304" pitchFamily="18" charset="0"/>
                <a:cs typeface="Times New Roman" panose="02020603050405020304" pitchFamily="18" charset="0"/>
              </a:rPr>
              <a:t>2) Deep Learning Framework</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i</a:t>
            </a:r>
            <a:r>
              <a:rPr lang="en-US" sz="1800" b="1" dirty="0">
                <a:latin typeface="Times New Roman" panose="02020603050405020304" pitchFamily="18" charset="0"/>
                <a:cs typeface="Times New Roman" panose="02020603050405020304" pitchFamily="18" charset="0"/>
              </a:rPr>
              <a:t>) TensorFlow</a:t>
            </a:r>
            <a:r>
              <a:rPr lang="en-US" sz="1800" dirty="0">
                <a:latin typeface="Times New Roman" panose="02020603050405020304" pitchFamily="18" charset="0"/>
                <a:cs typeface="Times New Roman" panose="02020603050405020304" pitchFamily="18" charset="0"/>
              </a:rPr>
              <a:t> </a:t>
            </a:r>
          </a:p>
          <a:p>
            <a:pPr marL="457200" lvl="1" indent="0" algn="just">
              <a:buNone/>
            </a:pPr>
            <a:r>
              <a:rPr lang="en-US" sz="1800" dirty="0">
                <a:latin typeface="Times New Roman" panose="02020603050405020304" pitchFamily="18" charset="0"/>
                <a:cs typeface="Times New Roman" panose="02020603050405020304" pitchFamily="18" charset="0"/>
              </a:rPr>
              <a:t>Used to build and train the deep learning model </a:t>
            </a:r>
          </a:p>
          <a:p>
            <a:pPr marL="457200" lvl="1" indent="0" algn="just">
              <a:buNone/>
            </a:pPr>
            <a:r>
              <a:rPr lang="en-US" sz="1800" dirty="0">
                <a:latin typeface="Times New Roman" panose="02020603050405020304" pitchFamily="18" charset="0"/>
                <a:cs typeface="Times New Roman" panose="02020603050405020304" pitchFamily="18" charset="0"/>
              </a:rPr>
              <a:t>Works efficiently on both CPU and GPU </a:t>
            </a:r>
          </a:p>
          <a:p>
            <a:pPr marL="0" indent="0" algn="just">
              <a:buNone/>
            </a:pPr>
            <a:r>
              <a:rPr lang="en-US" sz="1800" b="1" dirty="0">
                <a:latin typeface="Times New Roman" panose="02020603050405020304" pitchFamily="18" charset="0"/>
                <a:cs typeface="Times New Roman" panose="02020603050405020304" pitchFamily="18" charset="0"/>
              </a:rPr>
              <a:t>  ii) </a:t>
            </a:r>
            <a:r>
              <a:rPr lang="en-US" sz="1800" b="1" dirty="0" err="1">
                <a:latin typeface="Times New Roman" panose="02020603050405020304" pitchFamily="18" charset="0"/>
                <a:cs typeface="Times New Roman" panose="02020603050405020304" pitchFamily="18" charset="0"/>
              </a:rPr>
              <a:t>Keras</a:t>
            </a:r>
            <a:r>
              <a:rPr lang="en-US" sz="1800" b="1" dirty="0">
                <a:latin typeface="Times New Roman" panose="02020603050405020304" pitchFamily="18" charset="0"/>
                <a:cs typeface="Times New Roman" panose="02020603050405020304" pitchFamily="18" charset="0"/>
              </a:rPr>
              <a:t> (TensorFlow API)</a:t>
            </a:r>
            <a:r>
              <a:rPr lang="en-US" sz="1800" dirty="0">
                <a:latin typeface="Times New Roman" panose="02020603050405020304" pitchFamily="18" charset="0"/>
                <a:cs typeface="Times New Roman" panose="02020603050405020304" pitchFamily="18" charset="0"/>
              </a:rPr>
              <a:t> </a:t>
            </a:r>
          </a:p>
          <a:p>
            <a:pPr marL="457200" lvl="1" indent="0" algn="just">
              <a:buNone/>
            </a:pPr>
            <a:r>
              <a:rPr lang="en-US" sz="1800" dirty="0">
                <a:latin typeface="Times New Roman" panose="02020603050405020304" pitchFamily="18" charset="0"/>
                <a:cs typeface="Times New Roman" panose="02020603050405020304" pitchFamily="18" charset="0"/>
              </a:rPr>
              <a:t>Used to design the model easily </a:t>
            </a:r>
          </a:p>
          <a:p>
            <a:pPr marL="457200" lvl="1" indent="0" algn="just">
              <a:buNone/>
            </a:pPr>
            <a:r>
              <a:rPr lang="en-US" sz="1800" dirty="0">
                <a:latin typeface="Times New Roman" panose="02020603050405020304" pitchFamily="18" charset="0"/>
                <a:cs typeface="Times New Roman" panose="02020603050405020304" pitchFamily="18" charset="0"/>
              </a:rPr>
              <a:t>Helps in faster model building, training, and testing </a:t>
            </a:r>
          </a:p>
          <a:p>
            <a:pPr marL="0" indent="0" algn="just">
              <a:buNone/>
            </a:pPr>
            <a:r>
              <a:rPr lang="en-US" sz="1800" b="1" dirty="0">
                <a:latin typeface="Times New Roman" panose="02020603050405020304" pitchFamily="18" charset="0"/>
                <a:cs typeface="Times New Roman" panose="02020603050405020304" pitchFamily="18" charset="0"/>
              </a:rPr>
              <a:t>3)  Libraries Used</a:t>
            </a:r>
          </a:p>
          <a:p>
            <a:pPr marL="0" indent="0" algn="just">
              <a:buNone/>
            </a:pP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i</a:t>
            </a:r>
            <a:r>
              <a:rPr lang="en-US" sz="1800" b="1" dirty="0">
                <a:latin typeface="Times New Roman" panose="02020603050405020304" pitchFamily="18" charset="0"/>
                <a:cs typeface="Times New Roman" panose="02020603050405020304" pitchFamily="18" charset="0"/>
              </a:rPr>
              <a:t>) NumPy</a:t>
            </a:r>
            <a:r>
              <a:rPr lang="en-US" sz="1800" dirty="0">
                <a:latin typeface="Times New Roman" panose="02020603050405020304" pitchFamily="18" charset="0"/>
                <a:cs typeface="Times New Roman" panose="02020603050405020304" pitchFamily="18" charset="0"/>
              </a:rPr>
              <a:t> : Used for mathematical calculations and handling data </a:t>
            </a:r>
          </a:p>
          <a:p>
            <a:pPr marL="0" indent="0" algn="just">
              <a:buNone/>
            </a:pPr>
            <a:r>
              <a:rPr lang="en-US" sz="1800" b="1" dirty="0">
                <a:latin typeface="Times New Roman" panose="02020603050405020304" pitchFamily="18" charset="0"/>
                <a:cs typeface="Times New Roman" panose="02020603050405020304" pitchFamily="18" charset="0"/>
              </a:rPr>
              <a:t>ii) OpenCV</a:t>
            </a:r>
            <a:r>
              <a:rPr lang="en-US" sz="1800" dirty="0">
                <a:latin typeface="Times New Roman" panose="02020603050405020304" pitchFamily="18" charset="0"/>
                <a:cs typeface="Times New Roman" panose="02020603050405020304" pitchFamily="18" charset="0"/>
              </a:rPr>
              <a:t> : Used for image processing like resizing and preprocessing </a:t>
            </a:r>
          </a:p>
          <a:p>
            <a:pPr marL="0" indent="0" algn="just">
              <a:buNone/>
            </a:pPr>
            <a:r>
              <a:rPr lang="en-US" sz="1800" b="1" dirty="0">
                <a:latin typeface="Times New Roman" panose="02020603050405020304" pitchFamily="18" charset="0"/>
                <a:cs typeface="Times New Roman" panose="02020603050405020304" pitchFamily="18" charset="0"/>
              </a:rPr>
              <a:t>iii) Matplotlib</a:t>
            </a:r>
            <a:r>
              <a:rPr lang="en-US" sz="1800" dirty="0">
                <a:latin typeface="Times New Roman" panose="02020603050405020304" pitchFamily="18" charset="0"/>
                <a:cs typeface="Times New Roman" panose="02020603050405020304" pitchFamily="18" charset="0"/>
              </a:rPr>
              <a:t> : Used to plot graphs such as accuracy and loss </a:t>
            </a:r>
          </a:p>
          <a:p>
            <a:pPr marL="0" indent="0" algn="just">
              <a:buNone/>
            </a:pPr>
            <a:r>
              <a:rPr lang="en-US" sz="1800" b="1" dirty="0">
                <a:latin typeface="Times New Roman" panose="02020603050405020304" pitchFamily="18" charset="0"/>
                <a:cs typeface="Times New Roman" panose="02020603050405020304" pitchFamily="18" charset="0"/>
              </a:rPr>
              <a:t>iv) Seaborn</a:t>
            </a:r>
            <a:r>
              <a:rPr lang="en-US" sz="1800" dirty="0">
                <a:latin typeface="Times New Roman" panose="02020603050405020304" pitchFamily="18" charset="0"/>
                <a:cs typeface="Times New Roman" panose="02020603050405020304" pitchFamily="18" charset="0"/>
              </a:rPr>
              <a:t> : Used to display confusion matrix clearly </a:t>
            </a:r>
          </a:p>
          <a:p>
            <a:pPr marL="0" indent="0" algn="just">
              <a:buNone/>
            </a:pPr>
            <a:r>
              <a:rPr lang="en-US" sz="1800" b="1" dirty="0">
                <a:latin typeface="Times New Roman" panose="02020603050405020304" pitchFamily="18" charset="0"/>
                <a:cs typeface="Times New Roman" panose="02020603050405020304" pitchFamily="18" charset="0"/>
              </a:rPr>
              <a:t>v)  Scikit-learn</a:t>
            </a:r>
            <a:r>
              <a:rPr lang="en-US" sz="1800" dirty="0">
                <a:latin typeface="Times New Roman" panose="02020603050405020304" pitchFamily="18" charset="0"/>
                <a:cs typeface="Times New Roman" panose="02020603050405020304" pitchFamily="18" charset="0"/>
              </a:rPr>
              <a:t> : Used to calculate performance metrics like precision, recall, and F1-score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40532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07C0-A299-324E-56BB-3DA02566705D}"/>
              </a:ext>
            </a:extLst>
          </p:cNvPr>
          <p:cNvSpPr>
            <a:spLocks noGrp="1"/>
          </p:cNvSpPr>
          <p:nvPr>
            <p:ph type="title"/>
          </p:nvPr>
        </p:nvSpPr>
        <p:spPr>
          <a:xfrm>
            <a:off x="251520" y="305272"/>
            <a:ext cx="8640960" cy="6552728"/>
          </a:xfrm>
        </p:spPr>
        <p:txBody>
          <a:bodyPr>
            <a:noAutofit/>
          </a:bodyPr>
          <a:lstStyle/>
          <a:p>
            <a:pPr algn="l"/>
            <a:r>
              <a:rPr lang="en-US" sz="1800" b="1" dirty="0">
                <a:latin typeface="Times New Roman" panose="02020603050405020304" pitchFamily="18" charset="0"/>
                <a:cs typeface="Times New Roman" panose="02020603050405020304" pitchFamily="18" charset="0"/>
              </a:rPr>
              <a:t>4)  Development Environment</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err="1">
                <a:latin typeface="Times New Roman" panose="02020603050405020304" pitchFamily="18" charset="0"/>
                <a:cs typeface="Times New Roman" panose="02020603050405020304" pitchFamily="18" charset="0"/>
              </a:rPr>
              <a:t>i</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Jupyter</a:t>
            </a:r>
            <a:r>
              <a:rPr lang="en-US" sz="1800" b="1" dirty="0">
                <a:latin typeface="Times New Roman" panose="02020603050405020304" pitchFamily="18" charset="0"/>
                <a:cs typeface="Times New Roman" panose="02020603050405020304" pitchFamily="18" charset="0"/>
              </a:rPr>
              <a:t> Notebook</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and Google </a:t>
            </a:r>
            <a:r>
              <a:rPr lang="en-US" sz="1800" b="1" dirty="0" err="1">
                <a:latin typeface="Times New Roman" panose="02020603050405020304" pitchFamily="18" charset="0"/>
                <a:cs typeface="Times New Roman" panose="02020603050405020304" pitchFamily="18" charset="0"/>
              </a:rPr>
              <a:t>Colab</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Used for writing and testing code step by step </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ii) VS Code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Used for coding and managing the project</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5) Hardware Requirements</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err="1">
                <a:latin typeface="Times New Roman" panose="02020603050405020304" pitchFamily="18" charset="0"/>
                <a:cs typeface="Times New Roman" panose="02020603050405020304" pitchFamily="18" charset="0"/>
              </a:rPr>
              <a:t>i</a:t>
            </a:r>
            <a:r>
              <a:rPr lang="en-US" sz="1800" b="1" dirty="0">
                <a:latin typeface="Times New Roman" panose="02020603050405020304" pitchFamily="18" charset="0"/>
                <a:cs typeface="Times New Roman" panose="02020603050405020304" pitchFamily="18" charset="0"/>
              </a:rPr>
              <a:t>) CPU</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Used for running and training the model </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ii) GPU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Speeds up training and reduces time </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6) Techniques Used</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err="1">
                <a:latin typeface="Times New Roman" panose="02020603050405020304" pitchFamily="18" charset="0"/>
                <a:cs typeface="Times New Roman" panose="02020603050405020304" pitchFamily="18" charset="0"/>
              </a:rPr>
              <a:t>i</a:t>
            </a:r>
            <a:r>
              <a:rPr lang="en-US" sz="1800" b="1" dirty="0">
                <a:latin typeface="Times New Roman" panose="02020603050405020304" pitchFamily="18" charset="0"/>
                <a:cs typeface="Times New Roman" panose="02020603050405020304" pitchFamily="18" charset="0"/>
              </a:rPr>
              <a:t>) Transfer Learning</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Uses pretrained EfficientNetV2-S to improve accuracy </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ii) Mixed Precision Training</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Reduces memory usage and speeds up training </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iii) Early Stopping</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Stops training when performance stops improving </a:t>
            </a: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iv) Learning Rate Scheduling</a:t>
            </a: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Adjusts learning rate automatically during training</a:t>
            </a:r>
            <a:br>
              <a:rPr lang="en-US" sz="1400" dirty="0"/>
            </a:br>
            <a:r>
              <a:rPr lang="en-US" sz="1400" dirty="0"/>
              <a:t>  </a:t>
            </a:r>
            <a:endParaRPr lang="en-IN" sz="1400" dirty="0"/>
          </a:p>
        </p:txBody>
      </p:sp>
    </p:spTree>
    <p:extLst>
      <p:ext uri="{BB962C8B-B14F-4D97-AF65-F5344CB8AC3E}">
        <p14:creationId xmlns:p14="http://schemas.microsoft.com/office/powerpoint/2010/main" val="3836010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5B6637A-43EB-BD73-B714-C74F72F6CF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872" y="1246458"/>
            <a:ext cx="8784976" cy="5445224"/>
          </a:xfrm>
          <a:prstGeom prst="rect">
            <a:avLst/>
          </a:prstGeom>
        </p:spPr>
      </p:pic>
      <p:sp>
        <p:nvSpPr>
          <p:cNvPr id="6" name="Title 5">
            <a:extLst>
              <a:ext uri="{FF2B5EF4-FFF2-40B4-BE49-F238E27FC236}">
                <a16:creationId xmlns:a16="http://schemas.microsoft.com/office/drawing/2014/main" id="{11F4ACB6-E2D3-1F9D-C1D1-E85C56AAD624}"/>
              </a:ext>
            </a:extLst>
          </p:cNvPr>
          <p:cNvSpPr>
            <a:spLocks noGrp="1"/>
          </p:cNvSpPr>
          <p:nvPr>
            <p:ph type="title"/>
          </p:nvPr>
        </p:nvSpPr>
        <p:spPr>
          <a:xfrm>
            <a:off x="457200" y="785997"/>
            <a:ext cx="8229600" cy="418058"/>
          </a:xfrm>
        </p:spPr>
        <p:txBody>
          <a:bodyPr>
            <a:normAutofit/>
          </a:bodyPr>
          <a:lstStyle/>
          <a:p>
            <a:pPr algn="l"/>
            <a:r>
              <a:rPr lang="en-IN" sz="2000" b="1" dirty="0">
                <a:latin typeface="Times New Roman" panose="02020603050405020304" pitchFamily="18" charset="0"/>
                <a:cs typeface="Times New Roman" panose="02020603050405020304" pitchFamily="18" charset="0"/>
              </a:rPr>
              <a:t>Training Graphs:</a:t>
            </a:r>
          </a:p>
        </p:txBody>
      </p:sp>
      <p:sp>
        <p:nvSpPr>
          <p:cNvPr id="3" name="TextBox 2">
            <a:extLst>
              <a:ext uri="{FF2B5EF4-FFF2-40B4-BE49-F238E27FC236}">
                <a16:creationId xmlns:a16="http://schemas.microsoft.com/office/drawing/2014/main" id="{A658A099-FE61-AF3A-0171-D0D6E66DD6F2}"/>
              </a:ext>
            </a:extLst>
          </p:cNvPr>
          <p:cNvSpPr txBox="1"/>
          <p:nvPr/>
        </p:nvSpPr>
        <p:spPr>
          <a:xfrm>
            <a:off x="1468252" y="118464"/>
            <a:ext cx="6516216" cy="677108"/>
          </a:xfrm>
          <a:prstGeom prst="rect">
            <a:avLst/>
          </a:prstGeom>
          <a:noFill/>
        </p:spPr>
        <p:txBody>
          <a:bodyPr wrap="square">
            <a:spAutoFit/>
          </a:bodyPr>
          <a:lstStyle/>
          <a:p>
            <a:r>
              <a:rPr lang="en-US" sz="1800" b="1"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Output</a:t>
            </a:r>
            <a:br>
              <a:rPr lang="en-US" sz="1800" b="1" dirty="0">
                <a:latin typeface="Times New Roman" panose="02020603050405020304" pitchFamily="18" charset="0"/>
                <a:cs typeface="Times New Roman" panose="02020603050405020304" pitchFamily="18" charset="0"/>
              </a:rPr>
            </a:br>
            <a:endParaRPr lang="en-IN" dirty="0"/>
          </a:p>
        </p:txBody>
      </p:sp>
    </p:spTree>
    <p:extLst>
      <p:ext uri="{BB962C8B-B14F-4D97-AF65-F5344CB8AC3E}">
        <p14:creationId xmlns:p14="http://schemas.microsoft.com/office/powerpoint/2010/main" val="2772959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A4598E-D3E1-7562-6604-9F2B38D8D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1914" y="251810"/>
            <a:ext cx="3456384" cy="1476582"/>
          </a:xfrm>
          <a:prstGeom prst="rect">
            <a:avLst/>
          </a:prstGeom>
        </p:spPr>
      </p:pic>
      <p:pic>
        <p:nvPicPr>
          <p:cNvPr id="6" name="Picture 5">
            <a:extLst>
              <a:ext uri="{FF2B5EF4-FFF2-40B4-BE49-F238E27FC236}">
                <a16:creationId xmlns:a16="http://schemas.microsoft.com/office/drawing/2014/main" id="{EC259F29-63B4-0D0D-8319-E6F6A77414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175" y="285586"/>
            <a:ext cx="3735911" cy="1476581"/>
          </a:xfrm>
          <a:prstGeom prst="rect">
            <a:avLst/>
          </a:prstGeom>
        </p:spPr>
      </p:pic>
      <p:pic>
        <p:nvPicPr>
          <p:cNvPr id="15" name="Picture 14">
            <a:extLst>
              <a:ext uri="{FF2B5EF4-FFF2-40B4-BE49-F238E27FC236}">
                <a16:creationId xmlns:a16="http://schemas.microsoft.com/office/drawing/2014/main" id="{300D46D5-2570-D8B9-7D15-A132E1F22B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504" y="1728392"/>
            <a:ext cx="4464495" cy="2276793"/>
          </a:xfrm>
          <a:prstGeom prst="rect">
            <a:avLst/>
          </a:prstGeom>
        </p:spPr>
      </p:pic>
      <p:pic>
        <p:nvPicPr>
          <p:cNvPr id="17" name="Picture 16">
            <a:extLst>
              <a:ext uri="{FF2B5EF4-FFF2-40B4-BE49-F238E27FC236}">
                <a16:creationId xmlns:a16="http://schemas.microsoft.com/office/drawing/2014/main" id="{77ABBDC6-3D88-FFA7-264D-D81DA62101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44008" y="1762167"/>
            <a:ext cx="4287688" cy="2170889"/>
          </a:xfrm>
          <a:prstGeom prst="rect">
            <a:avLst/>
          </a:prstGeom>
        </p:spPr>
      </p:pic>
      <p:pic>
        <p:nvPicPr>
          <p:cNvPr id="19" name="Picture 18">
            <a:extLst>
              <a:ext uri="{FF2B5EF4-FFF2-40B4-BE49-F238E27FC236}">
                <a16:creationId xmlns:a16="http://schemas.microsoft.com/office/drawing/2014/main" id="{7E4CE08F-DFD8-8736-53BD-0BE16A3F350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504" y="4046193"/>
            <a:ext cx="4320479" cy="2210108"/>
          </a:xfrm>
          <a:prstGeom prst="rect">
            <a:avLst/>
          </a:prstGeom>
        </p:spPr>
      </p:pic>
      <p:pic>
        <p:nvPicPr>
          <p:cNvPr id="21" name="Picture 20">
            <a:extLst>
              <a:ext uri="{FF2B5EF4-FFF2-40B4-BE49-F238E27FC236}">
                <a16:creationId xmlns:a16="http://schemas.microsoft.com/office/drawing/2014/main" id="{A0B61F5E-3258-14B9-19AE-410CBB6AA0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1999" y="4046193"/>
            <a:ext cx="4464494" cy="2170889"/>
          </a:xfrm>
          <a:prstGeom prst="rect">
            <a:avLst/>
          </a:prstGeom>
        </p:spPr>
      </p:pic>
    </p:spTree>
    <p:extLst>
      <p:ext uri="{BB962C8B-B14F-4D97-AF65-F5344CB8AC3E}">
        <p14:creationId xmlns:p14="http://schemas.microsoft.com/office/powerpoint/2010/main" val="12965265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611B8-3F6A-8E3A-D907-FFB54DB97AD0}"/>
              </a:ext>
            </a:extLst>
          </p:cNvPr>
          <p:cNvSpPr>
            <a:spLocks noGrp="1"/>
          </p:cNvSpPr>
          <p:nvPr>
            <p:ph type="ctrTitle"/>
          </p:nvPr>
        </p:nvSpPr>
        <p:spPr>
          <a:xfrm>
            <a:off x="649796" y="259168"/>
            <a:ext cx="7772400" cy="576063"/>
          </a:xfrm>
        </p:spPr>
        <p:txBody>
          <a:bodyPr>
            <a:normAutofit fontScale="90000"/>
          </a:bodyPr>
          <a:lstStyle/>
          <a:p>
            <a:r>
              <a:rPr lang="en-IN" b="1" dirty="0"/>
              <a:t> </a:t>
            </a:r>
            <a:br>
              <a:rPr lang="en-IN" b="1" dirty="0"/>
            </a:br>
            <a:r>
              <a:rPr lang="en-IN" sz="2200" b="1" dirty="0">
                <a:latin typeface="Times New Roman" panose="02020603050405020304" pitchFamily="18" charset="0"/>
                <a:cs typeface="Times New Roman" panose="02020603050405020304" pitchFamily="18" charset="0"/>
              </a:rPr>
              <a:t>Conclusion</a:t>
            </a:r>
            <a:br>
              <a:rPr lang="en-IN" sz="1800" b="1" dirty="0"/>
            </a:br>
            <a:endParaRPr lang="en-IN" dirty="0"/>
          </a:p>
        </p:txBody>
      </p:sp>
      <p:sp>
        <p:nvSpPr>
          <p:cNvPr id="3" name="Subtitle 2">
            <a:extLst>
              <a:ext uri="{FF2B5EF4-FFF2-40B4-BE49-F238E27FC236}">
                <a16:creationId xmlns:a16="http://schemas.microsoft.com/office/drawing/2014/main" id="{70BB9974-4BFA-F318-6402-0B26086BEFB3}"/>
              </a:ext>
            </a:extLst>
          </p:cNvPr>
          <p:cNvSpPr>
            <a:spLocks noGrp="1"/>
          </p:cNvSpPr>
          <p:nvPr>
            <p:ph type="subTitle" idx="1"/>
          </p:nvPr>
        </p:nvSpPr>
        <p:spPr>
          <a:xfrm>
            <a:off x="251520" y="1052736"/>
            <a:ext cx="8568952" cy="4320480"/>
          </a:xfrm>
        </p:spPr>
        <p:txBody>
          <a:bodyPr>
            <a:no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The proposed system successfully demonstrates an effective approach for automatic plant leaf disease detection using a hybrid deep learning model. By combining EfficientNetV2-S and MobileViTv2, the model is able to capture both detailed local features and global contextual information from leaf images. This combination improves the model’s ability to accurately distinguish between healthy and diseased leaves.</a:t>
            </a: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use of preprocessing techniques such as image resizing, normalization, and data augmentation helps in improving the robustness of the model and reducing overfitting. The training process is further optimized using techniques like mixed precision training, early stopping, and learning rate adjustment, which contribute to stable and efficient model performance.</a:t>
            </a:r>
          </a:p>
          <a:p>
            <a:pPr algn="l"/>
            <a:endParaRPr lang="en-US" sz="1400" dirty="0">
              <a:solidFill>
                <a:schemeClr val="tx1"/>
              </a:solidFill>
            </a:endParaRPr>
          </a:p>
        </p:txBody>
      </p:sp>
    </p:spTree>
    <p:extLst>
      <p:ext uri="{BB962C8B-B14F-4D97-AF65-F5344CB8AC3E}">
        <p14:creationId xmlns:p14="http://schemas.microsoft.com/office/powerpoint/2010/main" val="2605481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A1493-16ED-30FD-5365-1D28F5CE92EC}"/>
              </a:ext>
            </a:extLst>
          </p:cNvPr>
          <p:cNvSpPr>
            <a:spLocks noGrp="1"/>
          </p:cNvSpPr>
          <p:nvPr>
            <p:ph type="ctrTitle"/>
          </p:nvPr>
        </p:nvSpPr>
        <p:spPr>
          <a:xfrm>
            <a:off x="755576" y="116633"/>
            <a:ext cx="7772400" cy="648072"/>
          </a:xfrm>
        </p:spPr>
        <p:txBody>
          <a:bodyPr>
            <a:normAutofit/>
          </a:bodyPr>
          <a:lstStyle/>
          <a:p>
            <a:r>
              <a:rPr lang="en-IN" sz="2000" b="1" dirty="0">
                <a:latin typeface="Times New Roman" panose="02020603050405020304" pitchFamily="18" charset="0"/>
                <a:cs typeface="Times New Roman" panose="02020603050405020304" pitchFamily="18" charset="0"/>
              </a:rPr>
              <a:t>Future Enhancement</a:t>
            </a:r>
            <a:endParaRPr lang="en-IN" sz="2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8675E978-04FF-9A9E-CB36-5FE04FC5DDAE}"/>
              </a:ext>
            </a:extLst>
          </p:cNvPr>
          <p:cNvSpPr>
            <a:spLocks noGrp="1"/>
          </p:cNvSpPr>
          <p:nvPr>
            <p:ph type="subTitle" idx="1"/>
          </p:nvPr>
        </p:nvSpPr>
        <p:spPr>
          <a:xfrm>
            <a:off x="287524" y="980727"/>
            <a:ext cx="8568952" cy="5616621"/>
          </a:xfrm>
        </p:spPr>
        <p:txBody>
          <a:bodyPr>
            <a:normAutofit fontScale="92500" lnSpcReduction="20000"/>
          </a:bodyPr>
          <a:lstStyle/>
          <a:p>
            <a:pPr algn="l"/>
            <a:r>
              <a:rPr lang="en-US" sz="1900" dirty="0">
                <a:solidFill>
                  <a:schemeClr val="tx1"/>
                </a:solidFill>
                <a:latin typeface="Times New Roman" panose="02020603050405020304" pitchFamily="18" charset="0"/>
                <a:cs typeface="Times New Roman" panose="02020603050405020304" pitchFamily="18" charset="0"/>
              </a:rPr>
              <a:t>Although the proposed system performs well, there are several areas where it can be further improved and extended.</a:t>
            </a:r>
          </a:p>
          <a:p>
            <a:pPr algn="l"/>
            <a:endParaRPr lang="en-US" sz="1900" dirty="0">
              <a:solidFill>
                <a:schemeClr val="tx1"/>
              </a:solidFill>
              <a:latin typeface="Times New Roman" panose="02020603050405020304" pitchFamily="18" charset="0"/>
              <a:cs typeface="Times New Roman" panose="02020603050405020304" pitchFamily="18" charset="0"/>
            </a:endParaRPr>
          </a:p>
          <a:p>
            <a:pPr marL="342900" indent="-342900" algn="l">
              <a:buFont typeface="+mj-lt"/>
              <a:buAutoNum type="arabicPeriod"/>
            </a:pPr>
            <a:r>
              <a:rPr lang="en-US" sz="1900" dirty="0">
                <a:solidFill>
                  <a:schemeClr val="tx1"/>
                </a:solidFill>
                <a:latin typeface="Times New Roman" panose="02020603050405020304" pitchFamily="18" charset="0"/>
                <a:cs typeface="Times New Roman" panose="02020603050405020304" pitchFamily="18" charset="0"/>
              </a:rPr>
              <a:t> The current model is trained only on Apple and Grape datasets. In the future, the system can be expanded to include more crops such as tomato, potato, and maize to make it more general and widely applicable. </a:t>
            </a:r>
          </a:p>
          <a:p>
            <a:pPr marL="342900" indent="-342900" algn="l">
              <a:buFont typeface="+mj-lt"/>
              <a:buAutoNum type="arabicPeriod"/>
            </a:pPr>
            <a:r>
              <a:rPr lang="en-US" sz="1900" dirty="0">
                <a:solidFill>
                  <a:schemeClr val="tx1"/>
                </a:solidFill>
                <a:latin typeface="Times New Roman" panose="02020603050405020304" pitchFamily="18" charset="0"/>
                <a:cs typeface="Times New Roman" panose="02020603050405020304" pitchFamily="18" charset="0"/>
              </a:rPr>
              <a:t>The system can be developed into a </a:t>
            </a:r>
            <a:r>
              <a:rPr lang="en-US" sz="1900" b="1" dirty="0">
                <a:solidFill>
                  <a:schemeClr val="tx1"/>
                </a:solidFill>
                <a:latin typeface="Times New Roman" panose="02020603050405020304" pitchFamily="18" charset="0"/>
                <a:cs typeface="Times New Roman" panose="02020603050405020304" pitchFamily="18" charset="0"/>
              </a:rPr>
              <a:t>mobile or web-based application</a:t>
            </a:r>
            <a:r>
              <a:rPr lang="en-US" sz="1900" dirty="0">
                <a:solidFill>
                  <a:schemeClr val="tx1"/>
                </a:solidFill>
                <a:latin typeface="Times New Roman" panose="02020603050405020304" pitchFamily="18" charset="0"/>
                <a:cs typeface="Times New Roman" panose="02020603050405020304" pitchFamily="18" charset="0"/>
              </a:rPr>
              <a:t>, allowing farmers to capture leaf images in real time and get instant disease predictions directly in the field. </a:t>
            </a:r>
          </a:p>
          <a:p>
            <a:pPr marL="342900" indent="-342900" algn="l">
              <a:buFont typeface="+mj-lt"/>
              <a:buAutoNum type="arabicPeriod"/>
            </a:pPr>
            <a:r>
              <a:rPr lang="en-US" sz="1900" dirty="0">
                <a:solidFill>
                  <a:schemeClr val="tx1"/>
                </a:solidFill>
                <a:latin typeface="Times New Roman" panose="02020603050405020304" pitchFamily="18" charset="0"/>
                <a:cs typeface="Times New Roman" panose="02020603050405020304" pitchFamily="18" charset="0"/>
              </a:rPr>
              <a:t>Real-time disease detection can be integrated using camera-based systems, enabling continuous monitoring of crops without manual effort. </a:t>
            </a:r>
          </a:p>
          <a:p>
            <a:pPr marL="342900" indent="-342900" algn="l">
              <a:buFont typeface="+mj-lt"/>
              <a:buAutoNum type="arabicPeriod"/>
            </a:pPr>
            <a:r>
              <a:rPr lang="en-US" sz="1900" dirty="0">
                <a:solidFill>
                  <a:schemeClr val="tx1"/>
                </a:solidFill>
                <a:latin typeface="Times New Roman" panose="02020603050405020304" pitchFamily="18" charset="0"/>
                <a:cs typeface="Times New Roman" panose="02020603050405020304" pitchFamily="18" charset="0"/>
              </a:rPr>
              <a:t>The dataset can be enhanced with more diverse and real-world images, including variations in lighting, background, and environmental conditions, to improve model generalization. </a:t>
            </a:r>
          </a:p>
          <a:p>
            <a:pPr marL="342900" indent="-342900" algn="l">
              <a:buFont typeface="+mj-lt"/>
              <a:buAutoNum type="arabicPeriod"/>
            </a:pPr>
            <a:r>
              <a:rPr lang="en-US" sz="1900" dirty="0">
                <a:solidFill>
                  <a:schemeClr val="tx1"/>
                </a:solidFill>
                <a:latin typeface="Times New Roman" panose="02020603050405020304" pitchFamily="18" charset="0"/>
                <a:cs typeface="Times New Roman" panose="02020603050405020304" pitchFamily="18" charset="0"/>
              </a:rPr>
              <a:t>Advanced techniques such as </a:t>
            </a:r>
            <a:r>
              <a:rPr lang="en-US" sz="1900" b="1" dirty="0">
                <a:solidFill>
                  <a:schemeClr val="tx1"/>
                </a:solidFill>
                <a:latin typeface="Times New Roman" panose="02020603050405020304" pitchFamily="18" charset="0"/>
                <a:cs typeface="Times New Roman" panose="02020603050405020304" pitchFamily="18" charset="0"/>
              </a:rPr>
              <a:t>self-supervised learning or lightweight models</a:t>
            </a:r>
            <a:r>
              <a:rPr lang="en-US" sz="1900" dirty="0">
                <a:solidFill>
                  <a:schemeClr val="tx1"/>
                </a:solidFill>
                <a:latin typeface="Times New Roman" panose="02020603050405020304" pitchFamily="18" charset="0"/>
                <a:cs typeface="Times New Roman" panose="02020603050405020304" pitchFamily="18" charset="0"/>
              </a:rPr>
              <a:t> can be explored to reduce computational cost and make the system more efficient for low-resource devices. </a:t>
            </a:r>
          </a:p>
          <a:p>
            <a:pPr marL="342900" indent="-342900" algn="l">
              <a:buFont typeface="+mj-lt"/>
              <a:buAutoNum type="arabicPeriod"/>
            </a:pPr>
            <a:r>
              <a:rPr lang="en-US" sz="1900" dirty="0">
                <a:solidFill>
                  <a:schemeClr val="tx1"/>
                </a:solidFill>
                <a:latin typeface="Times New Roman" panose="02020603050405020304" pitchFamily="18" charset="0"/>
                <a:cs typeface="Times New Roman" panose="02020603050405020304" pitchFamily="18" charset="0"/>
              </a:rPr>
              <a:t>Integration with </a:t>
            </a:r>
            <a:r>
              <a:rPr lang="en-US" sz="1900" b="1" dirty="0">
                <a:solidFill>
                  <a:schemeClr val="tx1"/>
                </a:solidFill>
                <a:latin typeface="Times New Roman" panose="02020603050405020304" pitchFamily="18" charset="0"/>
                <a:cs typeface="Times New Roman" panose="02020603050405020304" pitchFamily="18" charset="0"/>
              </a:rPr>
              <a:t>IoT-based smart agriculture systems</a:t>
            </a:r>
            <a:r>
              <a:rPr lang="en-US" sz="1900" dirty="0">
                <a:solidFill>
                  <a:schemeClr val="tx1"/>
                </a:solidFill>
                <a:latin typeface="Times New Roman" panose="02020603050405020304" pitchFamily="18" charset="0"/>
                <a:cs typeface="Times New Roman" panose="02020603050405020304" pitchFamily="18" charset="0"/>
              </a:rPr>
              <a:t> can further improve decision-making by combining disease detection with environmental data such as temperature and humidity. </a:t>
            </a:r>
          </a:p>
          <a:p>
            <a:pPr algn="l"/>
            <a:r>
              <a:rPr lang="en-US" sz="1900" dirty="0">
                <a:solidFill>
                  <a:schemeClr val="tx1"/>
                </a:solidFill>
                <a:latin typeface="Times New Roman" panose="02020603050405020304" pitchFamily="18" charset="0"/>
                <a:cs typeface="Times New Roman" panose="02020603050405020304" pitchFamily="18" charset="0"/>
              </a:rPr>
              <a:t>Overall, these improvements can make the system more practical, scalable, and suitable for real-world deployment in modern agriculture.</a:t>
            </a:r>
          </a:p>
          <a:p>
            <a:endParaRPr lang="en-IN" dirty="0"/>
          </a:p>
        </p:txBody>
      </p:sp>
    </p:spTree>
    <p:extLst>
      <p:ext uri="{BB962C8B-B14F-4D97-AF65-F5344CB8AC3E}">
        <p14:creationId xmlns:p14="http://schemas.microsoft.com/office/powerpoint/2010/main" val="1409598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1C8C3-6007-AED7-69F1-434E32A026BF}"/>
              </a:ext>
            </a:extLst>
          </p:cNvPr>
          <p:cNvSpPr>
            <a:spLocks noGrp="1"/>
          </p:cNvSpPr>
          <p:nvPr>
            <p:ph type="title"/>
          </p:nvPr>
        </p:nvSpPr>
        <p:spPr>
          <a:xfrm>
            <a:off x="251520" y="620688"/>
            <a:ext cx="8784976" cy="6048671"/>
          </a:xfrm>
        </p:spPr>
        <p:txBody>
          <a:bodyPr>
            <a:noAutofit/>
          </a:bodyPr>
          <a:lstStyle/>
          <a:p>
            <a:br>
              <a:rPr lang="en-IN" sz="1800" b="0" dirty="0">
                <a:latin typeface="Times New Roman" panose="02020603050405020304" pitchFamily="18" charset="0"/>
                <a:cs typeface="Times New Roman" panose="02020603050405020304" pitchFamily="18" charset="0"/>
              </a:rPr>
            </a:br>
            <a:br>
              <a:rPr lang="en-IN" sz="1800" b="0" dirty="0">
                <a:latin typeface="Times New Roman" panose="02020603050405020304" pitchFamily="18" charset="0"/>
                <a:cs typeface="Times New Roman" panose="02020603050405020304" pitchFamily="18" charset="0"/>
              </a:rPr>
            </a:br>
            <a:br>
              <a:rPr lang="en-IN" sz="1800" b="0" dirty="0">
                <a:latin typeface="Times New Roman" panose="02020603050405020304" pitchFamily="18" charset="0"/>
                <a:cs typeface="Times New Roman" panose="02020603050405020304" pitchFamily="18" charset="0"/>
              </a:rPr>
            </a:br>
            <a:endParaRPr lang="en-IN" sz="1800" b="0"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118C9FAC-AE7A-60DF-87A4-33EFD392C39B}"/>
              </a:ext>
            </a:extLst>
          </p:cNvPr>
          <p:cNvSpPr>
            <a:spLocks noGrp="1"/>
          </p:cNvSpPr>
          <p:nvPr>
            <p:ph type="body" idx="1"/>
          </p:nvPr>
        </p:nvSpPr>
        <p:spPr>
          <a:xfrm>
            <a:off x="722313" y="188641"/>
            <a:ext cx="7772400" cy="432047"/>
          </a:xfrm>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0FB2B4B9-E604-CD9D-8B77-60412872FA64}"/>
              </a:ext>
            </a:extLst>
          </p:cNvPr>
          <p:cNvSpPr>
            <a:spLocks noChangeArrowheads="1"/>
          </p:cNvSpPr>
          <p:nvPr/>
        </p:nvSpPr>
        <p:spPr bwMode="auto">
          <a:xfrm>
            <a:off x="179512" y="692696"/>
            <a:ext cx="8784975"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r>
              <a:rPr lang="en-US" b="1"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Sunil CK, </a:t>
            </a:r>
            <a:r>
              <a:rPr lang="en-US" dirty="0" err="1">
                <a:latin typeface="Times New Roman" panose="02020603050405020304" pitchFamily="18" charset="0"/>
                <a:cs typeface="Times New Roman" panose="02020603050405020304" pitchFamily="18" charset="0"/>
              </a:rPr>
              <a:t>Jaidhar</a:t>
            </a:r>
            <a:r>
              <a:rPr lang="en-US" dirty="0">
                <a:latin typeface="Times New Roman" panose="02020603050405020304" pitchFamily="18" charset="0"/>
                <a:cs typeface="Times New Roman" panose="02020603050405020304" pitchFamily="18" charset="0"/>
              </a:rPr>
              <a:t> CD, Patil N (2021) Cardamom plant disease detection approach using Efficient NetV2. IEEE Access 10:789–804 </a:t>
            </a:r>
          </a:p>
          <a:p>
            <a:pPr lvl="0" algn="just"/>
            <a:endParaRPr lang="en-IN" dirty="0">
              <a:latin typeface="Times New Roman" panose="02020603050405020304" pitchFamily="18" charset="0"/>
              <a:cs typeface="Times New Roman" panose="02020603050405020304" pitchFamily="18" charset="0"/>
            </a:endParaRPr>
          </a:p>
          <a:p>
            <a:pPr lvl="0" algn="just"/>
            <a:r>
              <a:rPr lang="en-US" b="1"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Shovon MSH, Mozumder SJ, Pal OK, </a:t>
            </a:r>
            <a:r>
              <a:rPr lang="en-US" dirty="0" err="1">
                <a:latin typeface="Times New Roman" panose="02020603050405020304" pitchFamily="18" charset="0"/>
                <a:cs typeface="Times New Roman" panose="02020603050405020304" pitchFamily="18" charset="0"/>
              </a:rPr>
              <a:t>Mridha</a:t>
            </a:r>
            <a:r>
              <a:rPr lang="en-US" dirty="0">
                <a:latin typeface="Times New Roman" panose="02020603050405020304" pitchFamily="18" charset="0"/>
                <a:cs typeface="Times New Roman" panose="02020603050405020304" pitchFamily="18" charset="0"/>
              </a:rPr>
              <a:t> MF, Asai N, Shin J (2023) </a:t>
            </a:r>
            <a:r>
              <a:rPr lang="en-US" dirty="0" err="1">
                <a:latin typeface="Times New Roman" panose="02020603050405020304" pitchFamily="18" charset="0"/>
                <a:cs typeface="Times New Roman" panose="02020603050405020304" pitchFamily="18" charset="0"/>
              </a:rPr>
              <a:t>PlantDet</a:t>
            </a:r>
            <a:r>
              <a:rPr lang="en-US" dirty="0">
                <a:latin typeface="Times New Roman" panose="02020603050405020304" pitchFamily="18" charset="0"/>
                <a:cs typeface="Times New Roman" panose="02020603050405020304" pitchFamily="18" charset="0"/>
              </a:rPr>
              <a:t>: a robust multi-model ensemble method based on deep learning for plant disease detection. IEEE Access 11:34846–34859 </a:t>
            </a:r>
          </a:p>
          <a:p>
            <a:pPr lvl="0" algn="just"/>
            <a:endParaRPr lang="en-IN" dirty="0">
              <a:latin typeface="Times New Roman" panose="02020603050405020304" pitchFamily="18" charset="0"/>
              <a:cs typeface="Times New Roman" panose="02020603050405020304" pitchFamily="18" charset="0"/>
            </a:endParaRPr>
          </a:p>
          <a:p>
            <a:pPr lvl="0" algn="just"/>
            <a:r>
              <a:rPr lang="en-US" b="1" dirty="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Hosny MK, El-Hady WM, Samy FM, </a:t>
            </a:r>
            <a:r>
              <a:rPr lang="en-US" dirty="0" err="1">
                <a:latin typeface="Times New Roman" panose="02020603050405020304" pitchFamily="18" charset="0"/>
                <a:cs typeface="Times New Roman" panose="02020603050405020304" pitchFamily="18" charset="0"/>
              </a:rPr>
              <a:t>Vrochidou</a:t>
            </a:r>
            <a:r>
              <a:rPr lang="en-US" dirty="0">
                <a:latin typeface="Times New Roman" panose="02020603050405020304" pitchFamily="18" charset="0"/>
                <a:cs typeface="Times New Roman" panose="02020603050405020304" pitchFamily="18" charset="0"/>
              </a:rPr>
              <a:t> E, Papakostas GA (2023) Multi-class classification of plant leaf diseases using feature fusion of deep convolutional neural network and local binary pattern. IEEE Access 11:62307–62317 </a:t>
            </a:r>
          </a:p>
          <a:p>
            <a:pPr lvl="0" algn="just"/>
            <a:endParaRPr lang="en-IN" dirty="0">
              <a:latin typeface="Times New Roman" panose="02020603050405020304" pitchFamily="18" charset="0"/>
              <a:cs typeface="Times New Roman" panose="02020603050405020304" pitchFamily="18" charset="0"/>
            </a:endParaRPr>
          </a:p>
          <a:p>
            <a:pPr lvl="0" algn="just"/>
            <a:r>
              <a:rPr lang="en-US" b="1"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Jiang P, Chen Y, Liu B, He D, Liang C (2019) Real-time detection of apple leaf diseases using deep learning approach based on improved convolutional neural networks. IEEE Access 7:59069–59080 </a:t>
            </a:r>
          </a:p>
          <a:p>
            <a:pPr lvl="0" algn="just"/>
            <a:endParaRPr lang="en-IN" dirty="0">
              <a:latin typeface="Times New Roman" panose="02020603050405020304" pitchFamily="18" charset="0"/>
              <a:cs typeface="Times New Roman" panose="02020603050405020304" pitchFamily="18" charset="0"/>
            </a:endParaRPr>
          </a:p>
          <a:p>
            <a:pPr lvl="0" algn="just"/>
            <a:r>
              <a:rPr lang="en-US" b="1" dirty="0">
                <a:latin typeface="Times New Roman" panose="02020603050405020304" pitchFamily="18" charset="0"/>
                <a:cs typeface="Times New Roman" panose="02020603050405020304" pitchFamily="18" charset="0"/>
              </a:rPr>
              <a:t>5. </a:t>
            </a:r>
            <a:r>
              <a:rPr lang="en-US" dirty="0">
                <a:latin typeface="Times New Roman" panose="02020603050405020304" pitchFamily="18" charset="0"/>
                <a:cs typeface="Times New Roman" panose="02020603050405020304" pitchFamily="18" charset="0"/>
              </a:rPr>
              <a:t>Annabel LSP, Annapoorani T, </a:t>
            </a:r>
            <a:r>
              <a:rPr lang="en-US" dirty="0" err="1">
                <a:latin typeface="Times New Roman" panose="02020603050405020304" pitchFamily="18" charset="0"/>
                <a:cs typeface="Times New Roman" panose="02020603050405020304" pitchFamily="18" charset="0"/>
              </a:rPr>
              <a:t>Deepalakshmi</a:t>
            </a:r>
            <a:r>
              <a:rPr lang="en-US" dirty="0">
                <a:latin typeface="Times New Roman" panose="02020603050405020304" pitchFamily="18" charset="0"/>
                <a:cs typeface="Times New Roman" panose="02020603050405020304" pitchFamily="18" charset="0"/>
              </a:rPr>
              <a:t> P (2019) Machine learning for plant leaf disease detection and classification–a review. In: 2019 International conference on communication and signal processing (ICCSP), IEEE, pp 0538–0542 </a:t>
            </a:r>
          </a:p>
          <a:p>
            <a:pPr lvl="0" algn="just"/>
            <a:endParaRPr lang="en-IN" dirty="0">
              <a:latin typeface="Times New Roman" panose="02020603050405020304" pitchFamily="18" charset="0"/>
              <a:cs typeface="Times New Roman" panose="02020603050405020304" pitchFamily="18" charset="0"/>
            </a:endParaRPr>
          </a:p>
          <a:p>
            <a:pPr lvl="0" algn="just"/>
            <a:r>
              <a:rPr lang="en-US" b="1" dirty="0">
                <a:latin typeface="Times New Roman" panose="02020603050405020304" pitchFamily="18" charset="0"/>
                <a:cs typeface="Times New Roman" panose="02020603050405020304" pitchFamily="18" charset="0"/>
              </a:rPr>
              <a:t>6. </a:t>
            </a:r>
            <a:r>
              <a:rPr lang="en-US" dirty="0">
                <a:latin typeface="Times New Roman" panose="02020603050405020304" pitchFamily="18" charset="0"/>
                <a:cs typeface="Times New Roman" panose="02020603050405020304" pitchFamily="18" charset="0"/>
              </a:rPr>
              <a:t>Amin H, Darwish A, </a:t>
            </a:r>
            <a:r>
              <a:rPr lang="en-US" dirty="0" err="1">
                <a:latin typeface="Times New Roman" panose="02020603050405020304" pitchFamily="18" charset="0"/>
                <a:cs typeface="Times New Roman" panose="02020603050405020304" pitchFamily="18" charset="0"/>
              </a:rPr>
              <a:t>Hassanien</a:t>
            </a:r>
            <a:r>
              <a:rPr lang="en-US" dirty="0">
                <a:latin typeface="Times New Roman" panose="02020603050405020304" pitchFamily="18" charset="0"/>
                <a:cs typeface="Times New Roman" panose="02020603050405020304" pitchFamily="18" charset="0"/>
              </a:rPr>
              <a:t> AE, Soliman M (2022) End-to-end deep learning model for corn leaf disease classification. IEEE Access 10:31103–31115 </a:t>
            </a:r>
          </a:p>
          <a:p>
            <a:pPr lvl="0" algn="just"/>
            <a:endParaRPr lang="en-IN"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0894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E8022-40EF-1A80-6C75-5C2EC4D1AECD}"/>
              </a:ext>
            </a:extLst>
          </p:cNvPr>
          <p:cNvSpPr>
            <a:spLocks noGrp="1"/>
          </p:cNvSpPr>
          <p:nvPr>
            <p:ph type="title"/>
          </p:nvPr>
        </p:nvSpPr>
        <p:spPr>
          <a:xfrm>
            <a:off x="323528" y="0"/>
            <a:ext cx="8496944" cy="6858000"/>
          </a:xfrm>
        </p:spPr>
        <p:txBody>
          <a:bodyPr>
            <a:noAutofit/>
          </a:bodyPr>
          <a:lstStyle/>
          <a:p>
            <a:pPr lvl="0" algn="l"/>
            <a:r>
              <a:rPr lang="en-US" sz="1800" b="1" dirty="0">
                <a:latin typeface="Times New Roman" panose="02020603050405020304" pitchFamily="18" charset="0"/>
                <a:cs typeface="Times New Roman" panose="02020603050405020304" pitchFamily="18" charset="0"/>
              </a:rPr>
              <a:t>7. </a:t>
            </a:r>
            <a:r>
              <a:rPr lang="en-US" sz="1800" dirty="0">
                <a:latin typeface="Times New Roman" panose="02020603050405020304" pitchFamily="18" charset="0"/>
                <a:cs typeface="Times New Roman" panose="02020603050405020304" pitchFamily="18" charset="0"/>
              </a:rPr>
              <a:t>Sajid M, Ali N, Dar SH, </a:t>
            </a:r>
            <a:r>
              <a:rPr lang="en-US" sz="1800" dirty="0" err="1">
                <a:latin typeface="Times New Roman" panose="02020603050405020304" pitchFamily="18" charset="0"/>
                <a:cs typeface="Times New Roman" panose="02020603050405020304" pitchFamily="18" charset="0"/>
              </a:rPr>
              <a:t>Ratyal</a:t>
            </a:r>
            <a:r>
              <a:rPr lang="en-US" sz="1800" dirty="0">
                <a:latin typeface="Times New Roman" panose="02020603050405020304" pitchFamily="18" charset="0"/>
                <a:cs typeface="Times New Roman" panose="02020603050405020304" pitchFamily="18" charset="0"/>
              </a:rPr>
              <a:t> NI, Butt AR, Zafar B, Shafique T, Baig MJA, Riaz I, Baig S (2018) Research article data augmentation-assisted makeup-invariant face recognition. Math </a:t>
            </a:r>
            <a:r>
              <a:rPr lang="en-US" sz="1800" dirty="0" err="1">
                <a:latin typeface="Times New Roman" panose="02020603050405020304" pitchFamily="18" charset="0"/>
                <a:cs typeface="Times New Roman" panose="02020603050405020304" pitchFamily="18" charset="0"/>
              </a:rPr>
              <a:t>Probl</a:t>
            </a:r>
            <a:r>
              <a:rPr lang="en-US" sz="1800" dirty="0">
                <a:latin typeface="Times New Roman" panose="02020603050405020304" pitchFamily="18" charset="0"/>
                <a:cs typeface="Times New Roman" panose="02020603050405020304" pitchFamily="18" charset="0"/>
              </a:rPr>
              <a:t> Eng 2018:1–10 </a:t>
            </a:r>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8. </a:t>
            </a:r>
            <a:r>
              <a:rPr lang="en-US" sz="1800" dirty="0">
                <a:latin typeface="Times New Roman" panose="02020603050405020304" pitchFamily="18" charset="0"/>
                <a:cs typeface="Times New Roman" panose="02020603050405020304" pitchFamily="18" charset="0"/>
              </a:rPr>
              <a:t>Xiao Z, Shi Y, Zhu G, Xiong J, Wu J (2023) Leaf disease detection based on lightweight deep residual network and attention mechanism. IEEE Access 11:48248–48258</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9</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Sharma P, Berwal YPS, Ghai W (2020) Performance analysis of deep learning CNN models for disease detection in plants using image segmentation. Inf Process Agric 7(4):566–574 </a:t>
            </a:r>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10. </a:t>
            </a:r>
            <a:r>
              <a:rPr lang="en-US" sz="1800" dirty="0">
                <a:latin typeface="Times New Roman" panose="02020603050405020304" pitchFamily="18" charset="0"/>
                <a:cs typeface="Times New Roman" panose="02020603050405020304" pitchFamily="18" charset="0"/>
              </a:rPr>
              <a:t>Masood M, Nawaz M, Nazir T, Javed A, </a:t>
            </a:r>
            <a:r>
              <a:rPr lang="en-US" sz="1800" dirty="0" err="1">
                <a:latin typeface="Times New Roman" panose="02020603050405020304" pitchFamily="18" charset="0"/>
                <a:cs typeface="Times New Roman" panose="02020603050405020304" pitchFamily="18" charset="0"/>
              </a:rPr>
              <a:t>Alkanhel</a:t>
            </a:r>
            <a:r>
              <a:rPr lang="en-US" sz="1800" dirty="0">
                <a:latin typeface="Times New Roman" panose="02020603050405020304" pitchFamily="18" charset="0"/>
                <a:cs typeface="Times New Roman" panose="02020603050405020304" pitchFamily="18" charset="0"/>
              </a:rPr>
              <a:t> R, </a:t>
            </a:r>
            <a:r>
              <a:rPr lang="en-US" sz="1800" dirty="0" err="1">
                <a:latin typeface="Times New Roman" panose="02020603050405020304" pitchFamily="18" charset="0"/>
                <a:cs typeface="Times New Roman" panose="02020603050405020304" pitchFamily="18" charset="0"/>
              </a:rPr>
              <a:t>Elmannai</a:t>
            </a:r>
            <a:r>
              <a:rPr lang="en-US" sz="1800" dirty="0">
                <a:latin typeface="Times New Roman" panose="02020603050405020304" pitchFamily="18" charset="0"/>
                <a:cs typeface="Times New Roman" panose="02020603050405020304" pitchFamily="18" charset="0"/>
              </a:rPr>
              <a:t> H, </a:t>
            </a:r>
            <a:r>
              <a:rPr lang="en-US" sz="1800" dirty="0" err="1">
                <a:latin typeface="Times New Roman" panose="02020603050405020304" pitchFamily="18" charset="0"/>
                <a:cs typeface="Times New Roman" panose="02020603050405020304" pitchFamily="18" charset="0"/>
              </a:rPr>
              <a:t>Dhahbi</a:t>
            </a:r>
            <a:r>
              <a:rPr lang="en-US" sz="1800" dirty="0">
                <a:latin typeface="Times New Roman" panose="02020603050405020304" pitchFamily="18" charset="0"/>
                <a:cs typeface="Times New Roman" panose="02020603050405020304" pitchFamily="18" charset="0"/>
              </a:rPr>
              <a:t> S, Bourouis S (2023) Mai </a:t>
            </a:r>
            <a:r>
              <a:rPr lang="en-US" sz="1800" dirty="0" err="1">
                <a:latin typeface="Times New Roman" panose="02020603050405020304" pitchFamily="18" charset="0"/>
                <a:cs typeface="Times New Roman" panose="02020603050405020304" pitchFamily="18" charset="0"/>
              </a:rPr>
              <a:t>zeNet</a:t>
            </a:r>
            <a:r>
              <a:rPr lang="en-US" sz="1800" dirty="0">
                <a:latin typeface="Times New Roman" panose="02020603050405020304" pitchFamily="18" charset="0"/>
                <a:cs typeface="Times New Roman" panose="02020603050405020304" pitchFamily="18" charset="0"/>
              </a:rPr>
              <a:t>: a deep learning approach for effective recognition of maize plant leaf diseases. </a:t>
            </a:r>
            <a:r>
              <a:rPr lang="pt-PT" sz="1800" dirty="0">
                <a:latin typeface="Times New Roman" panose="02020603050405020304" pitchFamily="18" charset="0"/>
                <a:cs typeface="Times New Roman" panose="02020603050405020304" pitchFamily="18" charset="0"/>
              </a:rPr>
              <a:t>IEEE Access 11:52862–52876 </a:t>
            </a:r>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11. </a:t>
            </a:r>
            <a:r>
              <a:rPr lang="en-US" sz="1800" dirty="0" err="1">
                <a:latin typeface="Times New Roman" panose="02020603050405020304" pitchFamily="18" charset="0"/>
                <a:cs typeface="Times New Roman" panose="02020603050405020304" pitchFamily="18" charset="0"/>
              </a:rPr>
              <a:t>Vishnoi</a:t>
            </a:r>
            <a:r>
              <a:rPr lang="en-US" sz="1800" dirty="0">
                <a:latin typeface="Times New Roman" panose="02020603050405020304" pitchFamily="18" charset="0"/>
                <a:cs typeface="Times New Roman" panose="02020603050405020304" pitchFamily="18" charset="0"/>
              </a:rPr>
              <a:t> VK, Kumar K, Kumar B, Mohan S, Khan AA (2022) Detection of apple plant diseases using leaf images through convolutional neural network. IEEE Access 11:6594–6609.</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12. </a:t>
            </a:r>
            <a:r>
              <a:rPr lang="en-US" sz="1800" dirty="0"/>
              <a:t>V. Singh and A. K. Misra, “Detection of plant leaf diseases using image segmentation and soft computing techniques,” </a:t>
            </a:r>
            <a:r>
              <a:rPr lang="en-US" sz="1800" i="1" dirty="0"/>
              <a:t>Inf. Process. </a:t>
            </a:r>
            <a:r>
              <a:rPr lang="en-US" sz="1800" i="1" dirty="0" err="1"/>
              <a:t>Agricult</a:t>
            </a:r>
            <a:r>
              <a:rPr lang="en-US" sz="1800" i="1" dirty="0"/>
              <a:t>.</a:t>
            </a:r>
            <a:r>
              <a:rPr lang="en-US" sz="1800" dirty="0"/>
              <a:t>, vol. 4, pp. 41–49, Mar. 2017.</a:t>
            </a:r>
            <a:br>
              <a:rPr lang="en-US" sz="1800" dirty="0"/>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13</a:t>
            </a:r>
            <a:r>
              <a:rPr lang="en-IN"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M. H. Saleem, S. </a:t>
            </a:r>
            <a:r>
              <a:rPr lang="en-US" sz="1800" dirty="0" err="1">
                <a:latin typeface="Times New Roman" panose="02020603050405020304" pitchFamily="18" charset="0"/>
                <a:cs typeface="Times New Roman" panose="02020603050405020304" pitchFamily="18" charset="0"/>
              </a:rPr>
              <a:t>Khanchi</a:t>
            </a:r>
            <a:r>
              <a:rPr lang="en-US" sz="1800" dirty="0">
                <a:latin typeface="Times New Roman" panose="02020603050405020304" pitchFamily="18" charset="0"/>
                <a:cs typeface="Times New Roman" panose="02020603050405020304" pitchFamily="18" charset="0"/>
              </a:rPr>
              <a:t>, J. Potgieter, and K. M. Arif, “Image-based plant disease identification by deep learning meta-architectures,” </a:t>
            </a:r>
            <a:r>
              <a:rPr lang="en-US" sz="1800" i="1" dirty="0">
                <a:latin typeface="Times New Roman" panose="02020603050405020304" pitchFamily="18" charset="0"/>
                <a:cs typeface="Times New Roman" panose="02020603050405020304" pitchFamily="18" charset="0"/>
              </a:rPr>
              <a:t>Plants</a:t>
            </a:r>
            <a:r>
              <a:rPr lang="en-US" sz="1800" dirty="0">
                <a:latin typeface="Times New Roman" panose="02020603050405020304" pitchFamily="18" charset="0"/>
                <a:cs typeface="Times New Roman" panose="02020603050405020304" pitchFamily="18" charset="0"/>
              </a:rPr>
              <a:t>, vol. 9, no. 11, p. 1451, Oct. 2020.</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2031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E0C5E-A4C3-5C52-16FB-7F48850645BF}"/>
              </a:ext>
            </a:extLst>
          </p:cNvPr>
          <p:cNvSpPr>
            <a:spLocks noGrp="1"/>
          </p:cNvSpPr>
          <p:nvPr>
            <p:ph type="ctrTitle"/>
          </p:nvPr>
        </p:nvSpPr>
        <p:spPr>
          <a:xfrm>
            <a:off x="215516" y="0"/>
            <a:ext cx="8712968" cy="6858000"/>
          </a:xfrm>
        </p:spPr>
        <p:txBody>
          <a:bodyPr>
            <a:noAutofit/>
          </a:bodyPr>
          <a:lstStyle/>
          <a:p>
            <a:pPr lvl="0" algn="l"/>
            <a:br>
              <a:rPr lang="en-IN" sz="1400" dirty="0"/>
            </a:br>
            <a:r>
              <a:rPr lang="en-IN" sz="1800" b="1" dirty="0">
                <a:latin typeface="Times New Roman" panose="02020603050405020304" pitchFamily="18" charset="0"/>
                <a:cs typeface="Times New Roman" panose="02020603050405020304" pitchFamily="18" charset="0"/>
              </a:rPr>
              <a:t>14. </a:t>
            </a:r>
            <a:r>
              <a:rPr lang="en-US" sz="1800" dirty="0">
                <a:latin typeface="Times New Roman" panose="02020603050405020304" pitchFamily="18" charset="0"/>
                <a:cs typeface="Times New Roman" panose="02020603050405020304" pitchFamily="18" charset="0"/>
              </a:rPr>
              <a:t>J. Hang, D. Zhang, P. Chen, J. Zhang, and B. Wang, “Classification of plant leaf diseases based on improved convolutional neural network,” </a:t>
            </a:r>
            <a:r>
              <a:rPr lang="en-US" sz="1800" i="1" dirty="0">
                <a:latin typeface="Times New Roman" panose="02020603050405020304" pitchFamily="18" charset="0"/>
                <a:cs typeface="Times New Roman" panose="02020603050405020304" pitchFamily="18" charset="0"/>
              </a:rPr>
              <a:t>Sensors</a:t>
            </a:r>
            <a:r>
              <a:rPr lang="en-US" sz="1800" dirty="0">
                <a:latin typeface="Times New Roman" panose="02020603050405020304" pitchFamily="18" charset="0"/>
                <a:cs typeface="Times New Roman" panose="02020603050405020304" pitchFamily="18" charset="0"/>
              </a:rPr>
              <a:t>, vol. 19, no. 19, p. 4161, Sep. 2019.</a:t>
            </a:r>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15. </a:t>
            </a:r>
            <a:r>
              <a:rPr lang="en-US" sz="1800" dirty="0">
                <a:latin typeface="Times New Roman" panose="02020603050405020304" pitchFamily="18" charset="0"/>
                <a:cs typeface="Times New Roman" panose="02020603050405020304" pitchFamily="18" charset="0"/>
              </a:rPr>
              <a:t>D. Morris, “A pyramid CNN for dense-leaves segmentation,” in </a:t>
            </a:r>
            <a:r>
              <a:rPr lang="en-US" sz="1800" i="1" dirty="0">
                <a:latin typeface="Times New Roman" panose="02020603050405020304" pitchFamily="18" charset="0"/>
                <a:cs typeface="Times New Roman" panose="02020603050405020304" pitchFamily="18" charset="0"/>
              </a:rPr>
              <a:t>Proc. 15th Conf. </a:t>
            </a:r>
            <a:r>
              <a:rPr lang="en-US" sz="1800" i="1" dirty="0" err="1">
                <a:latin typeface="Times New Roman" panose="02020603050405020304" pitchFamily="18" charset="0"/>
                <a:cs typeface="Times New Roman" panose="02020603050405020304" pitchFamily="18" charset="0"/>
              </a:rPr>
              <a:t>Comput</a:t>
            </a:r>
            <a:r>
              <a:rPr lang="en-US" sz="1800" i="1" dirty="0">
                <a:latin typeface="Times New Roman" panose="02020603050405020304" pitchFamily="18" charset="0"/>
                <a:cs typeface="Times New Roman" panose="02020603050405020304" pitchFamily="18" charset="0"/>
              </a:rPr>
              <a:t>. Robot Vis. (CRV)</a:t>
            </a:r>
            <a:r>
              <a:rPr lang="en-US" sz="1800" dirty="0">
                <a:latin typeface="Times New Roman" panose="02020603050405020304" pitchFamily="18" charset="0"/>
                <a:cs typeface="Times New Roman" panose="02020603050405020304" pitchFamily="18" charset="0"/>
              </a:rPr>
              <a:t>, May 2018, pp. 238–245.</a:t>
            </a:r>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16. </a:t>
            </a:r>
            <a:r>
              <a:rPr lang="en-US" sz="1800" dirty="0">
                <a:latin typeface="Times New Roman" panose="02020603050405020304" pitchFamily="18" charset="0"/>
                <a:cs typeface="Times New Roman" panose="02020603050405020304" pitchFamily="18" charset="0"/>
              </a:rPr>
              <a:t>S. P. Mohanty, D. P. Hughes, and M. </a:t>
            </a:r>
            <a:r>
              <a:rPr lang="en-US" sz="1800" dirty="0" err="1">
                <a:latin typeface="Times New Roman" panose="02020603050405020304" pitchFamily="18" charset="0"/>
                <a:cs typeface="Times New Roman" panose="02020603050405020304" pitchFamily="18" charset="0"/>
              </a:rPr>
              <a:t>Salathé</a:t>
            </a:r>
            <a:r>
              <a:rPr lang="en-US" sz="1800" dirty="0">
                <a:latin typeface="Times New Roman" panose="02020603050405020304" pitchFamily="18" charset="0"/>
                <a:cs typeface="Times New Roman" panose="02020603050405020304" pitchFamily="18" charset="0"/>
              </a:rPr>
              <a:t>, “Using deep learning for image-based plant disease detection,” </a:t>
            </a:r>
            <a:r>
              <a:rPr lang="en-US" sz="1800" i="1" dirty="0">
                <a:latin typeface="Times New Roman" panose="02020603050405020304" pitchFamily="18" charset="0"/>
                <a:cs typeface="Times New Roman" panose="02020603050405020304" pitchFamily="18" charset="0"/>
              </a:rPr>
              <a:t>Frontiers Plant Sci.</a:t>
            </a:r>
            <a:r>
              <a:rPr lang="en-US" sz="1800" dirty="0">
                <a:latin typeface="Times New Roman" panose="02020603050405020304" pitchFamily="18" charset="0"/>
                <a:cs typeface="Times New Roman" panose="02020603050405020304" pitchFamily="18" charset="0"/>
              </a:rPr>
              <a:t>, vol. 7, p. 1419, Sep. 2016. [Online].</a:t>
            </a:r>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17. </a:t>
            </a:r>
            <a:r>
              <a:rPr lang="en-US" sz="1800" dirty="0">
                <a:latin typeface="Times New Roman" panose="02020603050405020304" pitchFamily="18" charset="0"/>
                <a:cs typeface="Times New Roman" panose="02020603050405020304" pitchFamily="18" charset="0"/>
              </a:rPr>
              <a:t>Ü. Atila, M. Uçar, K. Akyol, and E. Uçar, “Plant leaf disease classification using </a:t>
            </a:r>
            <a:r>
              <a:rPr lang="en-US" sz="1800" dirty="0" err="1">
                <a:latin typeface="Times New Roman" panose="02020603050405020304" pitchFamily="18" charset="0"/>
                <a:cs typeface="Times New Roman" panose="02020603050405020304" pitchFamily="18" charset="0"/>
              </a:rPr>
              <a:t>efficientnet</a:t>
            </a:r>
            <a:r>
              <a:rPr lang="en-US" sz="1800" dirty="0">
                <a:latin typeface="Times New Roman" panose="02020603050405020304" pitchFamily="18" charset="0"/>
                <a:cs typeface="Times New Roman" panose="02020603050405020304" pitchFamily="18" charset="0"/>
              </a:rPr>
              <a:t> deep learning model,” </a:t>
            </a:r>
            <a:r>
              <a:rPr lang="en-US" sz="1800" i="1" dirty="0">
                <a:latin typeface="Times New Roman" panose="02020603050405020304" pitchFamily="18" charset="0"/>
                <a:cs typeface="Times New Roman" panose="02020603050405020304" pitchFamily="18" charset="0"/>
              </a:rPr>
              <a:t>Ecol. </a:t>
            </a:r>
            <a:r>
              <a:rPr lang="en-US" sz="1800" i="1" dirty="0" err="1">
                <a:latin typeface="Times New Roman" panose="02020603050405020304" pitchFamily="18" charset="0"/>
                <a:cs typeface="Times New Roman" panose="02020603050405020304" pitchFamily="18" charset="0"/>
              </a:rPr>
              <a:t>Informat</a:t>
            </a:r>
            <a:r>
              <a:rPr lang="en-US" sz="1800" i="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vol. 61, Mar. 2021, Art. no. 101182.</a:t>
            </a:r>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18. </a:t>
            </a:r>
            <a:r>
              <a:rPr lang="en-US" sz="1800" dirty="0">
                <a:latin typeface="Times New Roman" panose="02020603050405020304" pitchFamily="18" charset="0"/>
                <a:cs typeface="Times New Roman" panose="02020603050405020304" pitchFamily="18" charset="0"/>
              </a:rPr>
              <a:t>C. Sarkar, D. Gupta, U. Gupta, and B. B. Hazarika, “Leaf disease detection using machine learning and deep learning: Review and challenges,” </a:t>
            </a:r>
            <a:r>
              <a:rPr lang="en-US" sz="1800" i="1" dirty="0">
                <a:latin typeface="Times New Roman" panose="02020603050405020304" pitchFamily="18" charset="0"/>
                <a:cs typeface="Times New Roman" panose="02020603050405020304" pitchFamily="18" charset="0"/>
              </a:rPr>
              <a:t>Appl. Soft </a:t>
            </a:r>
            <a:r>
              <a:rPr lang="en-US" sz="1800" i="1" dirty="0" err="1">
                <a:latin typeface="Times New Roman" panose="02020603050405020304" pitchFamily="18" charset="0"/>
                <a:cs typeface="Times New Roman" panose="02020603050405020304" pitchFamily="18" charset="0"/>
              </a:rPr>
              <a:t>Comput</a:t>
            </a:r>
            <a:r>
              <a:rPr lang="en-US" sz="1800" i="1" dirty="0">
                <a:latin typeface="Times New Roman" panose="02020603050405020304" pitchFamily="18" charset="0"/>
                <a:cs typeface="Times New Roman" panose="02020603050405020304" pitchFamily="18" charset="0"/>
              </a:rPr>
              <a:t>.</a:t>
            </a:r>
            <a:r>
              <a:rPr lang="en-US" sz="1800" dirty="0">
                <a:latin typeface="Times New Roman" panose="02020603050405020304" pitchFamily="18" charset="0"/>
                <a:cs typeface="Times New Roman" panose="02020603050405020304" pitchFamily="18" charset="0"/>
              </a:rPr>
              <a:t>, vol. 145, Sep. 2023, Art. no. 110534.</a:t>
            </a:r>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19. </a:t>
            </a:r>
            <a:r>
              <a:rPr lang="en-US" sz="1800" dirty="0">
                <a:latin typeface="Times New Roman" panose="02020603050405020304" pitchFamily="18" charset="0"/>
                <a:cs typeface="Times New Roman" panose="02020603050405020304" pitchFamily="18" charset="0"/>
              </a:rPr>
              <a:t>W. B. </a:t>
            </a:r>
            <a:r>
              <a:rPr lang="en-US" sz="1800" dirty="0" err="1">
                <a:latin typeface="Times New Roman" panose="02020603050405020304" pitchFamily="18" charset="0"/>
                <a:cs typeface="Times New Roman" panose="02020603050405020304" pitchFamily="18" charset="0"/>
              </a:rPr>
              <a:t>Demilie</a:t>
            </a:r>
            <a:r>
              <a:rPr lang="en-US" sz="1800" dirty="0">
                <a:latin typeface="Times New Roman" panose="02020603050405020304" pitchFamily="18" charset="0"/>
                <a:cs typeface="Times New Roman" panose="02020603050405020304" pitchFamily="18" charset="0"/>
              </a:rPr>
              <a:t>, “Plant disease detection and classification techniques: A comparative study of the performances,” </a:t>
            </a:r>
            <a:r>
              <a:rPr lang="en-US" sz="1800" i="1" dirty="0">
                <a:latin typeface="Times New Roman" panose="02020603050405020304" pitchFamily="18" charset="0"/>
                <a:cs typeface="Times New Roman" panose="02020603050405020304" pitchFamily="18" charset="0"/>
              </a:rPr>
              <a:t>J. Big Data</a:t>
            </a:r>
            <a:r>
              <a:rPr lang="en-US" sz="1800" dirty="0">
                <a:latin typeface="Times New Roman" panose="02020603050405020304" pitchFamily="18" charset="0"/>
                <a:cs typeface="Times New Roman" panose="02020603050405020304" pitchFamily="18" charset="0"/>
              </a:rPr>
              <a:t>, vol. 11, no. 1, p. 5, Jan. 2024.</a:t>
            </a:r>
            <a:br>
              <a:rPr lang="en-US"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20. </a:t>
            </a:r>
            <a:r>
              <a:rPr lang="en-US" sz="1800" dirty="0">
                <a:latin typeface="Times New Roman" panose="02020603050405020304" pitchFamily="18" charset="0"/>
                <a:cs typeface="Times New Roman" panose="02020603050405020304" pitchFamily="18" charset="0"/>
              </a:rPr>
              <a:t>P. Bansal, R. Kumar, S. Kumar, “Disease detection in apple leaves using deep convolutional neural network,” </a:t>
            </a:r>
            <a:r>
              <a:rPr lang="en-US" sz="1800" i="1" dirty="0">
                <a:latin typeface="Times New Roman" panose="02020603050405020304" pitchFamily="18" charset="0"/>
                <a:cs typeface="Times New Roman" panose="02020603050405020304" pitchFamily="18" charset="0"/>
              </a:rPr>
              <a:t>Agriculture</a:t>
            </a:r>
            <a:r>
              <a:rPr lang="en-US" sz="1800" dirty="0">
                <a:latin typeface="Times New Roman" panose="02020603050405020304" pitchFamily="18" charset="0"/>
                <a:cs typeface="Times New Roman" panose="02020603050405020304" pitchFamily="18" charset="0"/>
              </a:rPr>
              <a:t>, 11 ( 7 ), 617–2021.</a:t>
            </a:r>
            <a:br>
              <a:rPr lang="en-IN"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Apple &amp; grape dataset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1800" u="sng" dirty="0">
                <a:latin typeface="Times New Roman" panose="02020603050405020304" pitchFamily="18" charset="0"/>
                <a:cs typeface="Times New Roman" panose="02020603050405020304" pitchFamily="18" charset="0"/>
                <a:hlinkClick r:id="rId2"/>
              </a:rPr>
              <a:t>https://github.com/digitalepidemiologylab/plantvillage_deeplearning_paper_dataset</a:t>
            </a:r>
            <a:br>
              <a:rPr lang="en-IN" sz="1400" dirty="0"/>
            </a:br>
            <a:endParaRPr lang="en-IN" sz="1400" dirty="0"/>
          </a:p>
        </p:txBody>
      </p:sp>
    </p:spTree>
    <p:extLst>
      <p:ext uri="{BB962C8B-B14F-4D97-AF65-F5344CB8AC3E}">
        <p14:creationId xmlns:p14="http://schemas.microsoft.com/office/powerpoint/2010/main" val="1889952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1833</TotalTime>
  <Words>2605</Words>
  <Application>Microsoft Office PowerPoint</Application>
  <PresentationFormat>On-screen Show (4:3)</PresentationFormat>
  <Paragraphs>159</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Times New Roman</vt:lpstr>
      <vt:lpstr>Office Theme</vt:lpstr>
      <vt:lpstr>Contents</vt:lpstr>
      <vt:lpstr>Plant diseases are one of the major factors affecting agricultural productivity and crop quality. Early detection of these diseases is essential to prevent large-scale damage and ensure better yield. However, traditional methods rely on manual inspection by experts, which is time-consuming, inconsistent, and not suitable for large-scale .  To address this problem, this project proposes an automated plant leaf disease detection system using a hybrid deep learning approach. The model combines EfficientNetV2-S, which is effective in extracting detailed local features such as textures and disease patterns, with MobileViTv2, which captures global contextual relationships using attention mechanisms. A gated feature fusion technique is used to integrate these features, improving the model’s ability to accurately classify different plant diseases.  The system is trained and evaluated on Apple and Grape leaf datasets with proper preprocessing and data augmentation techniques to improve robustness and generalization. The proposed model achieves high accuracy of up to 96.67%, along with strong performance across precision and recall metrics. Additionally, Grad-CAM visualization is used to interpret the model’s predictions by highlighting disease-affected regions.  Overall, the proposed system provides an efficient, reliable, and scalable solution for automated plant disease detection, making it suitable for real-world agricultural applications.  </vt:lpstr>
      <vt:lpstr>Introduction</vt:lpstr>
      <vt:lpstr>System Design</vt:lpstr>
      <vt:lpstr>Design Diagram</vt:lpstr>
      <vt:lpstr> </vt:lpstr>
      <vt:lpstr>PowerPoint Presentation</vt:lpstr>
      <vt:lpstr>PowerPoint Presentation</vt:lpstr>
      <vt:lpstr>PowerPoint Presentation</vt:lpstr>
      <vt:lpstr>DataSet Description </vt:lpstr>
      <vt:lpstr>Implementation Tools/Software</vt:lpstr>
      <vt:lpstr>4)  Development Environment  i) Jupyter Notebook and Google Colab             Used for writing and testing code step by step  ii) VS Code           Used for coding and managing the project 5) Hardware Requirements  i) CPU             Used for running and training the model  ii) GPU               Speeds up training and reduces time   6) Techniques Used  i) Transfer Learning               Uses pretrained EfficientNetV2-S to improve accuracy  ii) Mixed Precision Training                Reduces memory usage and speeds up training  iii) Early Stopping              Stops training when performance stops improving  iv) Learning Rate Scheduling               Adjusts learning rate automatically during training   </vt:lpstr>
      <vt:lpstr>Training Graphs:</vt:lpstr>
      <vt:lpstr>PowerPoint Presentation</vt:lpstr>
      <vt:lpstr>  Conclusion </vt:lpstr>
      <vt:lpstr>Future Enhancement</vt:lpstr>
      <vt:lpstr>   </vt:lpstr>
      <vt:lpstr>7. Sajid M, Ali N, Dar SH, Ratyal NI, Butt AR, Zafar B, Shafique T, Baig MJA, Riaz I, Baig S (2018) Research article data augmentation-assisted makeup-invariant face recognition. Math Probl Eng 2018:1–10   8. Xiao Z, Shi Y, Zhu G, Xiong J, Wu J (2023) Leaf disease detection based on lightweight deep residual network and attention mechanism. IEEE Access 11:48248–48258  9. Sharma P, Berwal YPS, Ghai W (2020) Performance analysis of deep learning CNN models for disease detection in plants using image segmentation. Inf Process Agric 7(4):566–574   10. Masood M, Nawaz M, Nazir T, Javed A, Alkanhel R, Elmannai H, Dhahbi S, Bourouis S (2023) Mai zeNet: a deep learning approach for effective recognition of maize plant leaf diseases. IEEE Access 11:52862–52876   11. Vishnoi VK, Kumar K, Kumar B, Mohan S, Khan AA (2022) Detection of apple plant diseases using leaf images through convolutional neural network. IEEE Access 11:6594–6609.  12. V. Singh and A. K. Misra, “Detection of plant leaf diseases using image segmentation and soft computing techniques,” Inf. Process. Agricult., vol. 4, pp. 41–49, Mar. 2017.  13. M. H. Saleem, S. Khanchi, J. Potgieter, and K. M. Arif, “Image-based plant disease identification by deep learning meta-architectures,” Plants, vol. 9, no. 11, p. 1451, Oct. 2020.</vt:lpstr>
      <vt:lpstr> 14. J. Hang, D. Zhang, P. Chen, J. Zhang, and B. Wang, “Classification of plant leaf diseases based on improved convolutional neural network,” Sensors, vol. 19, no. 19, p. 4161, Sep. 2019.  15. D. Morris, “A pyramid CNN for dense-leaves segmentation,” in Proc. 15th Conf. Comput. Robot Vis. (CRV), May 2018, pp. 238–245.  16. S. P. Mohanty, D. P. Hughes, and M. Salathé, “Using deep learning for image-based plant disease detection,” Frontiers Plant Sci., vol. 7, p. 1419, Sep. 2016. [Online].  17. Ü. Atila, M. Uçar, K. Akyol, and E. Uçar, “Plant leaf disease classification using efficientnet deep learning model,” Ecol. Informat., vol. 61, Mar. 2021, Art. no. 101182.  18. C. Sarkar, D. Gupta, U. Gupta, and B. B. Hazarika, “Leaf disease detection using machine learning and deep learning: Review and challenges,” Appl. Soft Comput., vol. 145, Sep. 2023, Art. no. 110534.  19. W. B. Demilie, “Plant disease detection and classification techniques: A comparative study of the performances,” J. Big Data, vol. 11, no. 1, p. 5, Jan. 2024.  20. P. Bansal, R. Kumar, S. Kumar, “Disease detection in apple leaves using deep convolutional neural network,” Agriculture, 11 ( 7 ), 617–2021.  Apple &amp; grape dataset  https://github.com/digitalepidemiologylab/plantvillage_deeplearning_paper_dataset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Dell</dc:creator>
  <cp:lastModifiedBy>Pavan Mudunuri</cp:lastModifiedBy>
  <cp:revision>72</cp:revision>
  <dcterms:created xsi:type="dcterms:W3CDTF">2024-02-12T06:27:31Z</dcterms:created>
  <dcterms:modified xsi:type="dcterms:W3CDTF">2026-05-19T10:07:50Z</dcterms:modified>
</cp:coreProperties>
</file>